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MIENTRAS CORRE terraform apply (10-15 min): 'Buenas, soy Luciano y voy a presentar la EP3 de ISY1101. El proyecto Innovatech Chile llega a su tercera etapa: pasamos de EC2 en EP1, a Docker y ECR en EP2, y ahora a orquestación real con AWS EKS. La rúbrica de esta presentación evalúa cuatro indicadores: explicación de los fundamentos de orquestación, demostración del pipeline CI/CD, defensa técnica, y claridad de la presentación. Voy a cubrir los cuatro. Mientras el cluster termina de levantar — son unos 10 minutos de terraform — les explico la arquitectura y las decisiones técnicas.'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EP1 construyó la red y los servidores base. EP2 empaquetó los servicios en contenedores Docker y los subió a ECR. EP3 da el salto a orquestación: Kubernetes maneja el scheduling, el autoscaling y la recuperación automática sin que tengamos que tocar un servidor. Un punto importante: mantuvimos el código de ECS intacto — el profesor pidió EKS, pero no eliminamos nada.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VPC tiene 4 subredes: 2 públicas para el ELB y 2 privadas para los nodos EC2. Los Security Groups siguen el principio de mínimo privilegio: el SG del cluster solo abre el 443 para el control plane, y el SG de nodos permite tráfico interno de la VPC. El punto clave de IAM: Academy bloquea iam:CreateRole, así que reutilizamos el LabRole existente tanto para el cluster (eks.amazonaws.com) como para los nodos (ec2.amazonaws.com). Verificamos esto automáticamente con un lifecycle.precondition en Terraform — si el trust policy no está bien, Terraform falla en segundos en vez de los 15 minutos que tarda crear el cluster.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son los cuatro pilares que la rúbrica pide justificar. Escalabilidad: automática vía HPA, sin tocar nada. Alta disponibilidad: siempre mínimo 2 réplicas, el ELB descarta pods no-Ready. Tolerancia a fallos: el RollingUpdate nunca deja el servicio en cero réplicas — y el parámetro maxSurge:0 lo descubrimos por necesidad cuando un rollout atascado agotó el nodo. Automatización: el pipeline hace todo desde el primer commit.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servicios corren como Deployments de Kubernetes. Las imágenes vienen de ECR — el pipeline hace build y push antes de apply, así siempre hay una imagen nueva. Las variables de entorno sensibles como DB_PASSWORD no están hardcodeadas en el YAML: usan secretKeyRef apuntando a mysql-secret, que el pipeline crea o refresca en cada deploy. El frontend se comunica con los backends por DNS interno de Kubernetes: backend-ventas:8080 y backend-despachos:8081, que son nombres de Service de tipo ClusterIP. Solo el frontend tiene un Service LoadBalancer con IP pública.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solo archivo, cd-eks.yml. El trigger es push a la rama deploy — también se puede disparar manualmente con workflow_dispatch. Los pasos 1 y 2 configuran credenciales y login a ECR: los 3 valores de AWS Academy (access key, secret key, session token) deben actualizarse juntos en GitHub Secrets cada vez que se reinicia el Lab. El paso 3 es el más lento: construye las 3 imágenes en linux/amd64. El paso 7 reemplaza el tag 'latest' con la URL real de ECR antes de aplicar. GitHub Actions muestra el tiempo exacto de cada paso y los logs completos — si algo falla, el step se pone rojo y podemos ver el error exacto.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Justificación del umbral del 50%: elegimos el mismo que en ECS para mantener consistencia entre arquitecturas. A 50% hay margen para absorber un pico mientras escala — si fuera 80% ya estaríamos saturados cuando el HPA reacciona. El autoscaling contribuye a la continuidad operativa porque el sistema se adapta a la carga sin intervención humana: crece cuando necesita y libera recursos cuando la carga baja.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self-healing de Kubernetes. Lo demostramos borrando un pod manualmente — que simula un crash del proceso. Kubernetes lo detectó y recreó en menos de 30 segundos. Importante: usamos un pod de backend, no el de MySQL, porque MySQL sin PVC pierde datos al recrearse. La clave es que la readinessProbe impide que el nuevo pod reciba tráfico hasta que Spring Boot arrancó y se conectó a la DB — así no hay errores visibles para el usuario durante la recuperación.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fuentes de logs. CloudWatch recibe los logs del plano de control: el API server registra cada llamada kubectl, el scheduler muestra decisiones de placement, el cloud-controller-manager registra la creación del ELB. Para las aplicaciones, kubectl logs nos muestra el arranque de Spring Boot, la conexión de Hikari a MySQL, y los requests HTTP con código de estado y tiempo de respuesta. Esto cubre tanto el monitoreo de infraestructura como el de aplicación.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problemas reales documentados. El primero es inherente a Academy — en producción real el cluster persiste y esto no ocurre. El segundo nos enseñó que las credenciales temporales de AWS son un set atómico: los 3 valores deben corresponder al mismo momento de emisión. El tercero fue el más valioso técnicamente: descubrimos cómo el RollingUpdate de Kubernetes interactúa con recursos limitados. Para producción real, los cambios más importantes serían: múltiples nodos en AZs distintas, datos persistentes en EBS, y secrets gestionados por AWS Secrets Manager.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cerrar: cubrimos los cuatro indicadores de la rúbrica. IE8: explicamos la arquitectura completa con redes, Security Groups, roles IAM y las cuatro garantías del sistema. IE9: demostramos el pipeline completo build→push→deploy, autoscaling con carga real, y logs en CloudWatch y kubectl. IE10: documentamos tres problemas técnicos reales con sus soluciones y la proyección a producción. IE11: presentación ordenada con lenguaje técnico. El cluster está corriendo en este momento — quedo disponible para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64008" cy="51435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347472"/>
          </a:xfrm>
          <a:prstGeom prst="rect">
            <a:avLst/>
          </a:prstGeom>
          <a:noFill/>
        </p:spPr>
        <p:txBody>
          <a:bodyPr wrap="square">
            <a:spAutoFit/>
          </a:bodyPr>
          <a:lstStyle/>
          <a:p>
            <a:pPr algn="l"/>
            <a:r>
              <a:rPr sz="1100" b="0" i="0">
                <a:solidFill>
                  <a:srgbClr val="5A7A94"/>
                </a:solidFill>
              </a:rPr>
              <a:t>ISY1101 · Evaluación Parcial N°3 · DevOps</a:t>
            </a:r>
          </a:p>
        </p:txBody>
      </p:sp>
      <p:sp>
        <p:nvSpPr>
          <p:cNvPr id="4" name="TextBox 3"/>
          <p:cNvSpPr txBox="1"/>
          <p:nvPr/>
        </p:nvSpPr>
        <p:spPr>
          <a:xfrm>
            <a:off x="548640" y="896112"/>
            <a:ext cx="8229600" cy="914400"/>
          </a:xfrm>
          <a:prstGeom prst="rect">
            <a:avLst/>
          </a:prstGeom>
          <a:noFill/>
        </p:spPr>
        <p:txBody>
          <a:bodyPr wrap="square">
            <a:spAutoFit/>
          </a:bodyPr>
          <a:lstStyle/>
          <a:p>
            <a:pPr algn="l"/>
            <a:r>
              <a:rPr sz="4200" b="1" i="0">
                <a:solidFill>
                  <a:srgbClr val="FFFFFF"/>
                </a:solidFill>
              </a:rPr>
              <a:t>Orquestación en AWS EKS</a:t>
            </a:r>
          </a:p>
        </p:txBody>
      </p:sp>
      <p:sp>
        <p:nvSpPr>
          <p:cNvPr id="5" name="TextBox 4"/>
          <p:cNvSpPr txBox="1"/>
          <p:nvPr/>
        </p:nvSpPr>
        <p:spPr>
          <a:xfrm>
            <a:off x="548640" y="1920240"/>
            <a:ext cx="8229600" cy="384048"/>
          </a:xfrm>
          <a:prstGeom prst="rect">
            <a:avLst/>
          </a:prstGeom>
          <a:noFill/>
        </p:spPr>
        <p:txBody>
          <a:bodyPr wrap="square">
            <a:spAutoFit/>
          </a:bodyPr>
          <a:lstStyle/>
          <a:p>
            <a:pPr algn="l"/>
            <a:r>
              <a:rPr sz="1400" b="0" i="0">
                <a:solidFill>
                  <a:srgbClr val="7AB8D4"/>
                </a:solidFill>
              </a:rPr>
              <a:t>Innovatech Chile — Automatización productiva con Kubernetes</a:t>
            </a:r>
          </a:p>
        </p:txBody>
      </p:sp>
      <p:sp>
        <p:nvSpPr>
          <p:cNvPr id="6" name="TextBox 5"/>
          <p:cNvSpPr txBox="1"/>
          <p:nvPr/>
        </p:nvSpPr>
        <p:spPr>
          <a:xfrm>
            <a:off x="548640" y="2560320"/>
            <a:ext cx="4572000" cy="320040"/>
          </a:xfrm>
          <a:prstGeom prst="rect">
            <a:avLst/>
          </a:prstGeom>
          <a:noFill/>
        </p:spPr>
        <p:txBody>
          <a:bodyPr wrap="square">
            <a:spAutoFit/>
          </a:bodyPr>
          <a:lstStyle/>
          <a:p>
            <a:pPr algn="l"/>
            <a:r>
              <a:rPr sz="1200" b="0" i="0">
                <a:solidFill>
                  <a:srgbClr val="5A7A94"/>
                </a:solidFill>
              </a:rPr>
              <a:t>Luciano Dameri  ·  Junio 2026</a:t>
            </a:r>
          </a:p>
        </p:txBody>
      </p:sp>
      <p:sp>
        <p:nvSpPr>
          <p:cNvPr id="7" name="Rectangle 6"/>
          <p:cNvSpPr/>
          <p:nvPr/>
        </p:nvSpPr>
        <p:spPr>
          <a:xfrm>
            <a:off x="6583680" y="777240"/>
            <a:ext cx="2377440" cy="13716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804672"/>
            <a:ext cx="2377440" cy="822960"/>
          </a:xfrm>
          <a:prstGeom prst="rect">
            <a:avLst/>
          </a:prstGeom>
          <a:noFill/>
        </p:spPr>
        <p:txBody>
          <a:bodyPr wrap="square">
            <a:spAutoFit/>
          </a:bodyPr>
          <a:lstStyle/>
          <a:p>
            <a:pPr algn="ctr"/>
            <a:r>
              <a:rPr sz="7200" b="1" i="0">
                <a:solidFill>
                  <a:srgbClr val="FFFFFF"/>
                </a:solidFill>
              </a:rPr>
              <a:t>EKS</a:t>
            </a:r>
          </a:p>
        </p:txBody>
      </p:sp>
      <p:sp>
        <p:nvSpPr>
          <p:cNvPr id="9" name="TextBox 8"/>
          <p:cNvSpPr txBox="1"/>
          <p:nvPr/>
        </p:nvSpPr>
        <p:spPr>
          <a:xfrm>
            <a:off x="6583680" y="1600200"/>
            <a:ext cx="2377440" cy="320040"/>
          </a:xfrm>
          <a:prstGeom prst="rect">
            <a:avLst/>
          </a:prstGeom>
          <a:noFill/>
        </p:spPr>
        <p:txBody>
          <a:bodyPr wrap="square">
            <a:spAutoFit/>
          </a:bodyPr>
          <a:lstStyle/>
          <a:p>
            <a:pPr algn="ctr"/>
            <a:r>
              <a:rPr sz="1000" b="0" i="0">
                <a:solidFill>
                  <a:srgbClr val="CCEAFF"/>
                </a:solidFill>
              </a:rPr>
              <a:t>AWS Kubernetes</a:t>
            </a:r>
          </a:p>
        </p:txBody>
      </p:sp>
      <p:sp>
        <p:nvSpPr>
          <p:cNvPr id="10" name="Rectangle 9"/>
          <p:cNvSpPr/>
          <p:nvPr/>
        </p:nvSpPr>
        <p:spPr>
          <a:xfrm>
            <a:off x="548640" y="3246120"/>
            <a:ext cx="1920240" cy="5943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310128"/>
            <a:ext cx="640080" cy="274320"/>
          </a:xfrm>
          <a:prstGeom prst="rect">
            <a:avLst/>
          </a:prstGeom>
          <a:noFill/>
        </p:spPr>
        <p:txBody>
          <a:bodyPr wrap="square">
            <a:spAutoFit/>
          </a:bodyPr>
          <a:lstStyle/>
          <a:p>
            <a:pPr algn="l"/>
            <a:r>
              <a:rPr sz="1100" b="1" i="0">
                <a:solidFill>
                  <a:srgbClr val="FFFFFF"/>
                </a:solidFill>
              </a:rPr>
              <a:t>IE8</a:t>
            </a:r>
          </a:p>
        </p:txBody>
      </p:sp>
      <p:sp>
        <p:nvSpPr>
          <p:cNvPr id="12" name="TextBox 11"/>
          <p:cNvSpPr txBox="1"/>
          <p:nvPr/>
        </p:nvSpPr>
        <p:spPr>
          <a:xfrm>
            <a:off x="621792" y="3566160"/>
            <a:ext cx="1737360" cy="228600"/>
          </a:xfrm>
          <a:prstGeom prst="rect">
            <a:avLst/>
          </a:prstGeom>
          <a:noFill/>
        </p:spPr>
        <p:txBody>
          <a:bodyPr wrap="square">
            <a:spAutoFit/>
          </a:bodyPr>
          <a:lstStyle/>
          <a:p>
            <a:pPr algn="l"/>
            <a:r>
              <a:rPr sz="950" b="0" i="0">
                <a:solidFill>
                  <a:srgbClr val="CCEAFF"/>
                </a:solidFill>
              </a:rPr>
              <a:t>Orquestación</a:t>
            </a:r>
          </a:p>
        </p:txBody>
      </p:sp>
      <p:sp>
        <p:nvSpPr>
          <p:cNvPr id="13" name="Rectangle 12"/>
          <p:cNvSpPr/>
          <p:nvPr/>
        </p:nvSpPr>
        <p:spPr>
          <a:xfrm>
            <a:off x="2560320" y="3246120"/>
            <a:ext cx="1920240" cy="5943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33472" y="3310128"/>
            <a:ext cx="640080" cy="274320"/>
          </a:xfrm>
          <a:prstGeom prst="rect">
            <a:avLst/>
          </a:prstGeom>
          <a:noFill/>
        </p:spPr>
        <p:txBody>
          <a:bodyPr wrap="square">
            <a:spAutoFit/>
          </a:bodyPr>
          <a:lstStyle/>
          <a:p>
            <a:pPr algn="l"/>
            <a:r>
              <a:rPr sz="1100" b="1" i="0">
                <a:solidFill>
                  <a:srgbClr val="FFFFFF"/>
                </a:solidFill>
              </a:rPr>
              <a:t>IE9</a:t>
            </a:r>
          </a:p>
        </p:txBody>
      </p:sp>
      <p:sp>
        <p:nvSpPr>
          <p:cNvPr id="15" name="TextBox 14"/>
          <p:cNvSpPr txBox="1"/>
          <p:nvPr/>
        </p:nvSpPr>
        <p:spPr>
          <a:xfrm>
            <a:off x="2633472" y="3566160"/>
            <a:ext cx="1737360" cy="228600"/>
          </a:xfrm>
          <a:prstGeom prst="rect">
            <a:avLst/>
          </a:prstGeom>
          <a:noFill/>
        </p:spPr>
        <p:txBody>
          <a:bodyPr wrap="square">
            <a:spAutoFit/>
          </a:bodyPr>
          <a:lstStyle/>
          <a:p>
            <a:pPr algn="l"/>
            <a:r>
              <a:rPr sz="950" b="0" i="0">
                <a:solidFill>
                  <a:srgbClr val="CCEAFF"/>
                </a:solidFill>
              </a:rPr>
              <a:t>Pipeline</a:t>
            </a:r>
          </a:p>
        </p:txBody>
      </p:sp>
      <p:sp>
        <p:nvSpPr>
          <p:cNvPr id="16" name="Rectangle 15"/>
          <p:cNvSpPr/>
          <p:nvPr/>
        </p:nvSpPr>
        <p:spPr>
          <a:xfrm>
            <a:off x="4572000" y="3246120"/>
            <a:ext cx="1920240" cy="5943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5152" y="3310128"/>
            <a:ext cx="640080" cy="274320"/>
          </a:xfrm>
          <a:prstGeom prst="rect">
            <a:avLst/>
          </a:prstGeom>
          <a:noFill/>
        </p:spPr>
        <p:txBody>
          <a:bodyPr wrap="square">
            <a:spAutoFit/>
          </a:bodyPr>
          <a:lstStyle/>
          <a:p>
            <a:pPr algn="l"/>
            <a:r>
              <a:rPr sz="1100" b="1" i="0">
                <a:solidFill>
                  <a:srgbClr val="FFFFFF"/>
                </a:solidFill>
              </a:rPr>
              <a:t>IE10</a:t>
            </a:r>
          </a:p>
        </p:txBody>
      </p:sp>
      <p:sp>
        <p:nvSpPr>
          <p:cNvPr id="18" name="TextBox 17"/>
          <p:cNvSpPr txBox="1"/>
          <p:nvPr/>
        </p:nvSpPr>
        <p:spPr>
          <a:xfrm>
            <a:off x="4645152" y="3566160"/>
            <a:ext cx="1737360" cy="228600"/>
          </a:xfrm>
          <a:prstGeom prst="rect">
            <a:avLst/>
          </a:prstGeom>
          <a:noFill/>
        </p:spPr>
        <p:txBody>
          <a:bodyPr wrap="square">
            <a:spAutoFit/>
          </a:bodyPr>
          <a:lstStyle/>
          <a:p>
            <a:pPr algn="l"/>
            <a:r>
              <a:rPr sz="950" b="0" i="0">
                <a:solidFill>
                  <a:srgbClr val="CCEAFF"/>
                </a:solidFill>
              </a:rPr>
              <a:t>Defensa</a:t>
            </a:r>
          </a:p>
        </p:txBody>
      </p:sp>
      <p:sp>
        <p:nvSpPr>
          <p:cNvPr id="19" name="Rectangle 18"/>
          <p:cNvSpPr/>
          <p:nvPr/>
        </p:nvSpPr>
        <p:spPr>
          <a:xfrm>
            <a:off x="6583680" y="3246120"/>
            <a:ext cx="1920240" cy="5943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56832" y="3310128"/>
            <a:ext cx="640080" cy="274320"/>
          </a:xfrm>
          <a:prstGeom prst="rect">
            <a:avLst/>
          </a:prstGeom>
          <a:noFill/>
        </p:spPr>
        <p:txBody>
          <a:bodyPr wrap="square">
            <a:spAutoFit/>
          </a:bodyPr>
          <a:lstStyle/>
          <a:p>
            <a:pPr algn="l"/>
            <a:r>
              <a:rPr sz="1100" b="1" i="0">
                <a:solidFill>
                  <a:srgbClr val="FFFFFF"/>
                </a:solidFill>
              </a:rPr>
              <a:t>IE11</a:t>
            </a:r>
          </a:p>
        </p:txBody>
      </p:sp>
      <p:sp>
        <p:nvSpPr>
          <p:cNvPr id="21" name="TextBox 20"/>
          <p:cNvSpPr txBox="1"/>
          <p:nvPr/>
        </p:nvSpPr>
        <p:spPr>
          <a:xfrm>
            <a:off x="6656832" y="3566160"/>
            <a:ext cx="1737360" cy="228600"/>
          </a:xfrm>
          <a:prstGeom prst="rect">
            <a:avLst/>
          </a:prstGeom>
          <a:noFill/>
        </p:spPr>
        <p:txBody>
          <a:bodyPr wrap="square">
            <a:spAutoFit/>
          </a:bodyPr>
          <a:lstStyle/>
          <a:p>
            <a:pPr algn="l"/>
            <a:r>
              <a:rPr sz="950" b="0" i="0">
                <a:solidFill>
                  <a:srgbClr val="CCEAFF"/>
                </a:solidFill>
              </a:rPr>
              <a:t>Claridad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
            <a:ext cx="8412480" cy="475488"/>
          </a:xfrm>
          <a:prstGeom prst="rect">
            <a:avLst/>
          </a:prstGeom>
          <a:noFill/>
        </p:spPr>
        <p:txBody>
          <a:bodyPr wrap="square">
            <a:spAutoFit/>
          </a:bodyPr>
          <a:lstStyle/>
          <a:p>
            <a:pPr algn="l"/>
            <a:r>
              <a:rPr sz="2100" b="1" i="0">
                <a:solidFill>
                  <a:srgbClr val="FFFFFF"/>
                </a:solidFill>
              </a:rPr>
              <a:t>Evolución del proyecto EP1 → EP2 → EP3</a:t>
            </a:r>
          </a:p>
        </p:txBody>
      </p:sp>
      <p:sp>
        <p:nvSpPr>
          <p:cNvPr id="4" name="Rectangle 3"/>
          <p:cNvSpPr/>
          <p:nvPr/>
        </p:nvSpPr>
        <p:spPr>
          <a:xfrm>
            <a:off x="274320" y="804672"/>
            <a:ext cx="2697480" cy="356616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79" y="877824"/>
            <a:ext cx="685800" cy="502920"/>
          </a:xfrm>
          <a:prstGeom prst="rect">
            <a:avLst/>
          </a:prstGeom>
          <a:noFill/>
        </p:spPr>
        <p:txBody>
          <a:bodyPr wrap="square">
            <a:spAutoFit/>
          </a:bodyPr>
          <a:lstStyle/>
          <a:p>
            <a:pPr algn="l"/>
            <a:r>
              <a:rPr sz="2800" b="1" i="0">
                <a:solidFill>
                  <a:srgbClr val="FFFFFF"/>
                </a:solidFill>
              </a:rPr>
              <a:t>EP1</a:t>
            </a:r>
          </a:p>
        </p:txBody>
      </p:sp>
      <p:sp>
        <p:nvSpPr>
          <p:cNvPr id="6" name="TextBox 5"/>
          <p:cNvSpPr txBox="1"/>
          <p:nvPr/>
        </p:nvSpPr>
        <p:spPr>
          <a:xfrm>
            <a:off x="411479" y="1444752"/>
            <a:ext cx="2423160" cy="347472"/>
          </a:xfrm>
          <a:prstGeom prst="rect">
            <a:avLst/>
          </a:prstGeom>
          <a:noFill/>
        </p:spPr>
        <p:txBody>
          <a:bodyPr wrap="square">
            <a:spAutoFit/>
          </a:bodyPr>
          <a:lstStyle/>
          <a:p>
            <a:pPr algn="l"/>
            <a:r>
              <a:rPr sz="1200" b="1" i="0">
                <a:solidFill>
                  <a:srgbClr val="FFFFFF"/>
                </a:solidFill>
              </a:rPr>
              <a:t>Infraestructura base</a:t>
            </a:r>
          </a:p>
        </p:txBody>
      </p:sp>
      <p:sp>
        <p:nvSpPr>
          <p:cNvPr id="7" name="TextBox 6"/>
          <p:cNvSpPr txBox="1"/>
          <p:nvPr/>
        </p:nvSpPr>
        <p:spPr>
          <a:xfrm>
            <a:off x="411479" y="1901952"/>
            <a:ext cx="2423160" cy="347472"/>
          </a:xfrm>
          <a:prstGeom prst="rect">
            <a:avLst/>
          </a:prstGeom>
          <a:noFill/>
        </p:spPr>
        <p:txBody>
          <a:bodyPr wrap="square">
            <a:spAutoFit/>
          </a:bodyPr>
          <a:lstStyle/>
          <a:p>
            <a:pPr algn="l"/>
            <a:r>
              <a:rPr sz="1050" b="0" i="0">
                <a:solidFill>
                  <a:srgbClr val="CCEAFF"/>
                </a:solidFill>
              </a:rPr>
              <a:t>• VPC, subredes, EC2</a:t>
            </a:r>
          </a:p>
        </p:txBody>
      </p:sp>
      <p:sp>
        <p:nvSpPr>
          <p:cNvPr id="8" name="TextBox 7"/>
          <p:cNvSpPr txBox="1"/>
          <p:nvPr/>
        </p:nvSpPr>
        <p:spPr>
          <a:xfrm>
            <a:off x="411479" y="2340864"/>
            <a:ext cx="2423160" cy="347472"/>
          </a:xfrm>
          <a:prstGeom prst="rect">
            <a:avLst/>
          </a:prstGeom>
          <a:noFill/>
        </p:spPr>
        <p:txBody>
          <a:bodyPr wrap="square">
            <a:spAutoFit/>
          </a:bodyPr>
          <a:lstStyle/>
          <a:p>
            <a:pPr algn="l"/>
            <a:r>
              <a:rPr sz="1050" b="0" i="0">
                <a:solidFill>
                  <a:srgbClr val="CCEAFF"/>
                </a:solidFill>
              </a:rPr>
              <a:t>• Terraform desde cero</a:t>
            </a:r>
          </a:p>
        </p:txBody>
      </p:sp>
      <p:sp>
        <p:nvSpPr>
          <p:cNvPr id="9" name="TextBox 8"/>
          <p:cNvSpPr txBox="1"/>
          <p:nvPr/>
        </p:nvSpPr>
        <p:spPr>
          <a:xfrm>
            <a:off x="411479" y="2779776"/>
            <a:ext cx="2423160" cy="347472"/>
          </a:xfrm>
          <a:prstGeom prst="rect">
            <a:avLst/>
          </a:prstGeom>
          <a:noFill/>
        </p:spPr>
        <p:txBody>
          <a:bodyPr wrap="square">
            <a:spAutoFit/>
          </a:bodyPr>
          <a:lstStyle/>
          <a:p>
            <a:pPr algn="l"/>
            <a:r>
              <a:rPr sz="1050" b="0" i="0">
                <a:solidFill>
                  <a:srgbClr val="CCEAFF"/>
                </a:solidFill>
              </a:rPr>
              <a:t>• Red privada AWS Academy</a:t>
            </a:r>
          </a:p>
        </p:txBody>
      </p:sp>
      <p:sp>
        <p:nvSpPr>
          <p:cNvPr id="10" name="Rectangle 9"/>
          <p:cNvSpPr/>
          <p:nvPr/>
        </p:nvSpPr>
        <p:spPr>
          <a:xfrm>
            <a:off x="3200400" y="804672"/>
            <a:ext cx="2697480" cy="356616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877824"/>
            <a:ext cx="685800" cy="502920"/>
          </a:xfrm>
          <a:prstGeom prst="rect">
            <a:avLst/>
          </a:prstGeom>
          <a:noFill/>
        </p:spPr>
        <p:txBody>
          <a:bodyPr wrap="square">
            <a:spAutoFit/>
          </a:bodyPr>
          <a:lstStyle/>
          <a:p>
            <a:pPr algn="l"/>
            <a:r>
              <a:rPr sz="2800" b="1" i="0">
                <a:solidFill>
                  <a:srgbClr val="FFFFFF"/>
                </a:solidFill>
              </a:rPr>
              <a:t>EP2</a:t>
            </a:r>
          </a:p>
        </p:txBody>
      </p:sp>
      <p:sp>
        <p:nvSpPr>
          <p:cNvPr id="12" name="TextBox 11"/>
          <p:cNvSpPr txBox="1"/>
          <p:nvPr/>
        </p:nvSpPr>
        <p:spPr>
          <a:xfrm>
            <a:off x="3337560" y="1444752"/>
            <a:ext cx="2423160" cy="347472"/>
          </a:xfrm>
          <a:prstGeom prst="rect">
            <a:avLst/>
          </a:prstGeom>
          <a:noFill/>
        </p:spPr>
        <p:txBody>
          <a:bodyPr wrap="square">
            <a:spAutoFit/>
          </a:bodyPr>
          <a:lstStyle/>
          <a:p>
            <a:pPr algn="l"/>
            <a:r>
              <a:rPr sz="1200" b="1" i="0">
                <a:solidFill>
                  <a:srgbClr val="FFFFFF"/>
                </a:solidFill>
              </a:rPr>
              <a:t>Contenedorización</a:t>
            </a:r>
          </a:p>
        </p:txBody>
      </p:sp>
      <p:sp>
        <p:nvSpPr>
          <p:cNvPr id="13" name="TextBox 12"/>
          <p:cNvSpPr txBox="1"/>
          <p:nvPr/>
        </p:nvSpPr>
        <p:spPr>
          <a:xfrm>
            <a:off x="3337560" y="1901952"/>
            <a:ext cx="2423160" cy="347472"/>
          </a:xfrm>
          <a:prstGeom prst="rect">
            <a:avLst/>
          </a:prstGeom>
          <a:noFill/>
        </p:spPr>
        <p:txBody>
          <a:bodyPr wrap="square">
            <a:spAutoFit/>
          </a:bodyPr>
          <a:lstStyle/>
          <a:p>
            <a:pPr algn="l"/>
            <a:r>
              <a:rPr sz="1050" b="0" i="0">
                <a:solidFill>
                  <a:srgbClr val="CCEAFF"/>
                </a:solidFill>
              </a:rPr>
              <a:t>• Docker + ECR</a:t>
            </a:r>
          </a:p>
        </p:txBody>
      </p:sp>
      <p:sp>
        <p:nvSpPr>
          <p:cNvPr id="14" name="TextBox 13"/>
          <p:cNvSpPr txBox="1"/>
          <p:nvPr/>
        </p:nvSpPr>
        <p:spPr>
          <a:xfrm>
            <a:off x="3337560" y="2340864"/>
            <a:ext cx="2423160" cy="347472"/>
          </a:xfrm>
          <a:prstGeom prst="rect">
            <a:avLst/>
          </a:prstGeom>
          <a:noFill/>
        </p:spPr>
        <p:txBody>
          <a:bodyPr wrap="square">
            <a:spAutoFit/>
          </a:bodyPr>
          <a:lstStyle/>
          <a:p>
            <a:pPr algn="l"/>
            <a:r>
              <a:rPr sz="1050" b="0" i="0">
                <a:solidFill>
                  <a:srgbClr val="CCEAFF"/>
                </a:solidFill>
              </a:rPr>
              <a:t>• 3 servicios containerizados</a:t>
            </a:r>
          </a:p>
        </p:txBody>
      </p:sp>
      <p:sp>
        <p:nvSpPr>
          <p:cNvPr id="15" name="TextBox 14"/>
          <p:cNvSpPr txBox="1"/>
          <p:nvPr/>
        </p:nvSpPr>
        <p:spPr>
          <a:xfrm>
            <a:off x="3337560" y="2779776"/>
            <a:ext cx="2423160" cy="347472"/>
          </a:xfrm>
          <a:prstGeom prst="rect">
            <a:avLst/>
          </a:prstGeom>
          <a:noFill/>
        </p:spPr>
        <p:txBody>
          <a:bodyPr wrap="square">
            <a:spAutoFit/>
          </a:bodyPr>
          <a:lstStyle/>
          <a:p>
            <a:pPr algn="l"/>
            <a:r>
              <a:rPr sz="1050" b="0" i="0">
                <a:solidFill>
                  <a:srgbClr val="CCEAFF"/>
                </a:solidFill>
              </a:rPr>
              <a:t>• CI básico GitHub Actions</a:t>
            </a:r>
          </a:p>
        </p:txBody>
      </p:sp>
      <p:sp>
        <p:nvSpPr>
          <p:cNvPr id="16" name="Rectangle 15"/>
          <p:cNvSpPr/>
          <p:nvPr/>
        </p:nvSpPr>
        <p:spPr>
          <a:xfrm>
            <a:off x="6126480" y="804672"/>
            <a:ext cx="2697480" cy="3566160"/>
          </a:xfrm>
          <a:prstGeom prst="rect">
            <a:avLst/>
          </a:prstGeom>
          <a:solidFill>
            <a:srgbClr val="027A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877824"/>
            <a:ext cx="685800" cy="502920"/>
          </a:xfrm>
          <a:prstGeom prst="rect">
            <a:avLst/>
          </a:prstGeom>
          <a:noFill/>
        </p:spPr>
        <p:txBody>
          <a:bodyPr wrap="square">
            <a:spAutoFit/>
          </a:bodyPr>
          <a:lstStyle/>
          <a:p>
            <a:pPr algn="l"/>
            <a:r>
              <a:rPr sz="2800" b="1" i="0">
                <a:solidFill>
                  <a:srgbClr val="FFFFFF"/>
                </a:solidFill>
              </a:rPr>
              <a:t>EP3</a:t>
            </a:r>
          </a:p>
        </p:txBody>
      </p:sp>
      <p:sp>
        <p:nvSpPr>
          <p:cNvPr id="18" name="TextBox 17"/>
          <p:cNvSpPr txBox="1"/>
          <p:nvPr/>
        </p:nvSpPr>
        <p:spPr>
          <a:xfrm>
            <a:off x="6263640" y="1444752"/>
            <a:ext cx="2423160" cy="347472"/>
          </a:xfrm>
          <a:prstGeom prst="rect">
            <a:avLst/>
          </a:prstGeom>
          <a:noFill/>
        </p:spPr>
        <p:txBody>
          <a:bodyPr wrap="square">
            <a:spAutoFit/>
          </a:bodyPr>
          <a:lstStyle/>
          <a:p>
            <a:pPr algn="l"/>
            <a:r>
              <a:rPr sz="1200" b="1" i="0">
                <a:solidFill>
                  <a:srgbClr val="FFFFFF"/>
                </a:solidFill>
              </a:rPr>
              <a:t>Orquestación EKS</a:t>
            </a:r>
          </a:p>
        </p:txBody>
      </p:sp>
      <p:sp>
        <p:nvSpPr>
          <p:cNvPr id="19" name="TextBox 18"/>
          <p:cNvSpPr txBox="1"/>
          <p:nvPr/>
        </p:nvSpPr>
        <p:spPr>
          <a:xfrm>
            <a:off x="6263640" y="1901952"/>
            <a:ext cx="2423160" cy="347472"/>
          </a:xfrm>
          <a:prstGeom prst="rect">
            <a:avLst/>
          </a:prstGeom>
          <a:noFill/>
        </p:spPr>
        <p:txBody>
          <a:bodyPr wrap="square">
            <a:spAutoFit/>
          </a:bodyPr>
          <a:lstStyle/>
          <a:p>
            <a:pPr algn="l"/>
            <a:r>
              <a:rPr sz="1050" b="0" i="0">
                <a:solidFill>
                  <a:srgbClr val="CCEAFF"/>
                </a:solidFill>
              </a:rPr>
              <a:t>• Cluster Kubernetes en AWS</a:t>
            </a:r>
          </a:p>
        </p:txBody>
      </p:sp>
      <p:sp>
        <p:nvSpPr>
          <p:cNvPr id="20" name="TextBox 19"/>
          <p:cNvSpPr txBox="1"/>
          <p:nvPr/>
        </p:nvSpPr>
        <p:spPr>
          <a:xfrm>
            <a:off x="6263640" y="2340864"/>
            <a:ext cx="2423160" cy="347472"/>
          </a:xfrm>
          <a:prstGeom prst="rect">
            <a:avLst/>
          </a:prstGeom>
          <a:noFill/>
        </p:spPr>
        <p:txBody>
          <a:bodyPr wrap="square">
            <a:spAutoFit/>
          </a:bodyPr>
          <a:lstStyle/>
          <a:p>
            <a:pPr algn="l"/>
            <a:r>
              <a:rPr sz="1050" b="0" i="0">
                <a:solidFill>
                  <a:srgbClr val="CCEAFF"/>
                </a:solidFill>
              </a:rPr>
              <a:t>• HPA, self-healing, rollouts</a:t>
            </a:r>
          </a:p>
        </p:txBody>
      </p:sp>
      <p:sp>
        <p:nvSpPr>
          <p:cNvPr id="21" name="TextBox 20"/>
          <p:cNvSpPr txBox="1"/>
          <p:nvPr/>
        </p:nvSpPr>
        <p:spPr>
          <a:xfrm>
            <a:off x="6263640" y="2779776"/>
            <a:ext cx="2423160" cy="347472"/>
          </a:xfrm>
          <a:prstGeom prst="rect">
            <a:avLst/>
          </a:prstGeom>
          <a:noFill/>
        </p:spPr>
        <p:txBody>
          <a:bodyPr wrap="square">
            <a:spAutoFit/>
          </a:bodyPr>
          <a:lstStyle/>
          <a:p>
            <a:pPr algn="l"/>
            <a:r>
              <a:rPr sz="1050" b="0" i="0">
                <a:solidFill>
                  <a:srgbClr val="CCEAFF"/>
                </a:solidFill>
              </a:rPr>
              <a:t>• Pipeline unificado automático</a:t>
            </a:r>
          </a:p>
        </p:txBody>
      </p:sp>
      <p:sp>
        <p:nvSpPr>
          <p:cNvPr id="22" name="TextBox 21"/>
          <p:cNvSpPr txBox="1"/>
          <p:nvPr/>
        </p:nvSpPr>
        <p:spPr>
          <a:xfrm>
            <a:off x="274320" y="4681728"/>
            <a:ext cx="8595360" cy="320040"/>
          </a:xfrm>
          <a:prstGeom prst="rect">
            <a:avLst/>
          </a:prstGeom>
          <a:noFill/>
        </p:spPr>
        <p:txBody>
          <a:bodyPr wrap="square">
            <a:spAutoFit/>
          </a:bodyPr>
          <a:lstStyle/>
          <a:p>
            <a:pPr algn="l"/>
            <a:r>
              <a:rPr sz="1000" b="0" i="1">
                <a:solidFill>
                  <a:srgbClr val="5A7A94"/>
                </a:solidFill>
              </a:rPr>
              <a:t>→ EP3 no reemplaza ECS: módulo Terraform independiente (infra/eks/) que coexiste con infra/ecs.tf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
            <a:ext cx="8412480" cy="475488"/>
          </a:xfrm>
          <a:prstGeom prst="rect">
            <a:avLst/>
          </a:prstGeom>
          <a:noFill/>
        </p:spPr>
        <p:txBody>
          <a:bodyPr wrap="square">
            <a:spAutoFit/>
          </a:bodyPr>
          <a:lstStyle/>
          <a:p>
            <a:pPr algn="l"/>
            <a:r>
              <a:rPr sz="2100" b="1" i="0">
                <a:solidFill>
                  <a:srgbClr val="FFFFFF"/>
                </a:solidFill>
              </a:rPr>
              <a:t>Arquitectura EKS — Red, nodos y roles IAM  (IE8)</a:t>
            </a:r>
          </a:p>
        </p:txBody>
      </p:sp>
      <p:sp>
        <p:nvSpPr>
          <p:cNvPr id="4" name="Rectangle 3"/>
          <p:cNvSpPr/>
          <p:nvPr/>
        </p:nvSpPr>
        <p:spPr>
          <a:xfrm>
            <a:off x="1554480" y="804672"/>
            <a:ext cx="6675120" cy="2606040"/>
          </a:xfrm>
          <a:prstGeom prst="rect">
            <a:avLst/>
          </a:prstGeom>
          <a:solidFill>
            <a:srgbClr val="E8F4FB"/>
          </a:solidFill>
          <a:ln w="9525">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822960"/>
            <a:ext cx="6217920" cy="256032"/>
          </a:xfrm>
          <a:prstGeom prst="rect">
            <a:avLst/>
          </a:prstGeom>
          <a:noFill/>
        </p:spPr>
        <p:txBody>
          <a:bodyPr wrap="square">
            <a:spAutoFit/>
          </a:bodyPr>
          <a:lstStyle/>
          <a:p>
            <a:pPr algn="l"/>
            <a:r>
              <a:rPr sz="850" b="0" i="1">
                <a:solidFill>
                  <a:srgbClr val="1C7293"/>
                </a:solidFill>
              </a:rPr>
              <a:t>EKS Cluster  innovatech-eks  — 1 nodo t3.medium (subredes PRIVADAS, us-east-1a / 1b)</a:t>
            </a:r>
          </a:p>
        </p:txBody>
      </p:sp>
      <p:sp>
        <p:nvSpPr>
          <p:cNvPr id="6" name="Rectangle 5"/>
          <p:cNvSpPr/>
          <p:nvPr/>
        </p:nvSpPr>
        <p:spPr>
          <a:xfrm>
            <a:off x="137160" y="1005840"/>
            <a:ext cx="1280160" cy="4114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 y="1051560"/>
            <a:ext cx="1280160" cy="292608"/>
          </a:xfrm>
          <a:prstGeom prst="rect">
            <a:avLst/>
          </a:prstGeom>
          <a:noFill/>
        </p:spPr>
        <p:txBody>
          <a:bodyPr wrap="square">
            <a:spAutoFit/>
          </a:bodyPr>
          <a:lstStyle/>
          <a:p>
            <a:pPr algn="ctr"/>
            <a:r>
              <a:rPr sz="900" b="1" i="0">
                <a:solidFill>
                  <a:srgbClr val="065A82"/>
                </a:solidFill>
              </a:rPr>
              <a:t>🌐 Internet</a:t>
            </a:r>
          </a:p>
        </p:txBody>
      </p:sp>
      <p:sp>
        <p:nvSpPr>
          <p:cNvPr id="8" name="TextBox 7"/>
          <p:cNvSpPr txBox="1"/>
          <p:nvPr/>
        </p:nvSpPr>
        <p:spPr>
          <a:xfrm>
            <a:off x="1435608" y="1097280"/>
            <a:ext cx="256032" cy="256032"/>
          </a:xfrm>
          <a:prstGeom prst="rect">
            <a:avLst/>
          </a:prstGeom>
          <a:noFill/>
        </p:spPr>
        <p:txBody>
          <a:bodyPr wrap="square">
            <a:spAutoFit/>
          </a:bodyPr>
          <a:lstStyle/>
          <a:p>
            <a:pPr algn="l"/>
            <a:r>
              <a:rPr sz="1500" b="1" i="0">
                <a:solidFill>
                  <a:srgbClr val="1C7293"/>
                </a:solidFill>
              </a:rPr>
              <a:t>→</a:t>
            </a:r>
          </a:p>
        </p:txBody>
      </p:sp>
      <p:sp>
        <p:nvSpPr>
          <p:cNvPr id="9" name="Rectangle 8"/>
          <p:cNvSpPr/>
          <p:nvPr/>
        </p:nvSpPr>
        <p:spPr>
          <a:xfrm>
            <a:off x="1709928" y="1005840"/>
            <a:ext cx="1508760" cy="41148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09928" y="1024128"/>
            <a:ext cx="1508760" cy="347472"/>
          </a:xfrm>
          <a:prstGeom prst="rect">
            <a:avLst/>
          </a:prstGeom>
          <a:noFill/>
        </p:spPr>
        <p:txBody>
          <a:bodyPr wrap="square">
            <a:spAutoFit/>
          </a:bodyPr>
          <a:lstStyle/>
          <a:p>
            <a:pPr algn="ctr"/>
            <a:r>
              <a:rPr sz="900" b="1" i="0">
                <a:solidFill>
                  <a:srgbClr val="FFFFFF"/>
                </a:solidFill>
              </a:rPr>
              <a:t>Classic ELB
:80 público</a:t>
            </a:r>
          </a:p>
        </p:txBody>
      </p:sp>
      <p:sp>
        <p:nvSpPr>
          <p:cNvPr id="11" name="TextBox 10"/>
          <p:cNvSpPr txBox="1"/>
          <p:nvPr/>
        </p:nvSpPr>
        <p:spPr>
          <a:xfrm>
            <a:off x="3236976" y="1097280"/>
            <a:ext cx="256032" cy="256032"/>
          </a:xfrm>
          <a:prstGeom prst="rect">
            <a:avLst/>
          </a:prstGeom>
          <a:noFill/>
        </p:spPr>
        <p:txBody>
          <a:bodyPr wrap="square">
            <a:spAutoFit/>
          </a:bodyPr>
          <a:lstStyle/>
          <a:p>
            <a:pPr algn="l"/>
            <a:r>
              <a:rPr sz="1500" b="1" i="0">
                <a:solidFill>
                  <a:srgbClr val="1C7293"/>
                </a:solidFill>
              </a:rPr>
              <a:t>→</a:t>
            </a:r>
          </a:p>
        </p:txBody>
      </p:sp>
      <p:sp>
        <p:nvSpPr>
          <p:cNvPr id="12" name="Rectangle 11"/>
          <p:cNvSpPr/>
          <p:nvPr/>
        </p:nvSpPr>
        <p:spPr>
          <a:xfrm>
            <a:off x="3511296" y="1005840"/>
            <a:ext cx="1691640" cy="41148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11296" y="1024128"/>
            <a:ext cx="1691640" cy="347472"/>
          </a:xfrm>
          <a:prstGeom prst="rect">
            <a:avLst/>
          </a:prstGeom>
          <a:noFill/>
        </p:spPr>
        <p:txBody>
          <a:bodyPr wrap="square">
            <a:spAutoFit/>
          </a:bodyPr>
          <a:lstStyle/>
          <a:p>
            <a:pPr algn="ctr"/>
            <a:r>
              <a:rPr sz="900" b="1" i="0">
                <a:solidFill>
                  <a:srgbClr val="FFFFFF"/>
                </a:solidFill>
              </a:rPr>
              <a:t>Pod frontend
nginx :8080</a:t>
            </a:r>
          </a:p>
        </p:txBody>
      </p:sp>
      <p:sp>
        <p:nvSpPr>
          <p:cNvPr id="14" name="TextBox 13"/>
          <p:cNvSpPr txBox="1"/>
          <p:nvPr/>
        </p:nvSpPr>
        <p:spPr>
          <a:xfrm>
            <a:off x="3840480" y="1481328"/>
            <a:ext cx="1097280" cy="201168"/>
          </a:xfrm>
          <a:prstGeom prst="rect">
            <a:avLst/>
          </a:prstGeom>
          <a:noFill/>
        </p:spPr>
        <p:txBody>
          <a:bodyPr wrap="square">
            <a:spAutoFit/>
          </a:bodyPr>
          <a:lstStyle/>
          <a:p>
            <a:pPr algn="l"/>
            <a:r>
              <a:rPr sz="800" b="0" i="1">
                <a:solidFill>
                  <a:srgbClr val="5A7A94"/>
                </a:solidFill>
              </a:rPr>
              <a:t>↓ DNS k8s</a:t>
            </a:r>
          </a:p>
        </p:txBody>
      </p:sp>
      <p:sp>
        <p:nvSpPr>
          <p:cNvPr id="15" name="Rectangle 14"/>
          <p:cNvSpPr/>
          <p:nvPr/>
        </p:nvSpPr>
        <p:spPr>
          <a:xfrm>
            <a:off x="2651760" y="1783080"/>
            <a:ext cx="1783080" cy="411480"/>
          </a:xfrm>
          <a:prstGeom prst="rect">
            <a:avLst/>
          </a:prstGeom>
          <a:solidFill>
            <a:srgbClr val="027A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51760" y="1801368"/>
            <a:ext cx="1783080" cy="347472"/>
          </a:xfrm>
          <a:prstGeom prst="rect">
            <a:avLst/>
          </a:prstGeom>
          <a:noFill/>
        </p:spPr>
        <p:txBody>
          <a:bodyPr wrap="square">
            <a:spAutoFit/>
          </a:bodyPr>
          <a:lstStyle/>
          <a:p>
            <a:pPr algn="ctr"/>
            <a:r>
              <a:rPr sz="900" b="1" i="0">
                <a:solidFill>
                  <a:srgbClr val="FFFFFF"/>
                </a:solidFill>
              </a:rPr>
              <a:t>backend-ventas
x2-5  :8080</a:t>
            </a:r>
          </a:p>
        </p:txBody>
      </p:sp>
      <p:sp>
        <p:nvSpPr>
          <p:cNvPr id="17" name="Rectangle 16"/>
          <p:cNvSpPr/>
          <p:nvPr/>
        </p:nvSpPr>
        <p:spPr>
          <a:xfrm>
            <a:off x="4617720" y="1783080"/>
            <a:ext cx="1874519" cy="411480"/>
          </a:xfrm>
          <a:prstGeom prst="rect">
            <a:avLst/>
          </a:prstGeom>
          <a:solidFill>
            <a:srgbClr val="027A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1801368"/>
            <a:ext cx="1874519" cy="347472"/>
          </a:xfrm>
          <a:prstGeom prst="rect">
            <a:avLst/>
          </a:prstGeom>
          <a:noFill/>
        </p:spPr>
        <p:txBody>
          <a:bodyPr wrap="square">
            <a:spAutoFit/>
          </a:bodyPr>
          <a:lstStyle/>
          <a:p>
            <a:pPr algn="ctr"/>
            <a:r>
              <a:rPr sz="900" b="1" i="0">
                <a:solidFill>
                  <a:srgbClr val="FFFFFF"/>
                </a:solidFill>
              </a:rPr>
              <a:t>backend-despachos
x2-5  :8081</a:t>
            </a:r>
          </a:p>
        </p:txBody>
      </p:sp>
      <p:sp>
        <p:nvSpPr>
          <p:cNvPr id="19" name="TextBox 18"/>
          <p:cNvSpPr txBox="1"/>
          <p:nvPr/>
        </p:nvSpPr>
        <p:spPr>
          <a:xfrm>
            <a:off x="3493008" y="2240280"/>
            <a:ext cx="292608" cy="237744"/>
          </a:xfrm>
          <a:prstGeom prst="rect">
            <a:avLst/>
          </a:prstGeom>
          <a:noFill/>
        </p:spPr>
        <p:txBody>
          <a:bodyPr wrap="square">
            <a:spAutoFit/>
          </a:bodyPr>
          <a:lstStyle/>
          <a:p>
            <a:pPr algn="l"/>
            <a:r>
              <a:rPr sz="1200" b="1" i="0">
                <a:solidFill>
                  <a:srgbClr val="5A7A94"/>
                </a:solidFill>
              </a:rPr>
              <a:t>↓</a:t>
            </a:r>
          </a:p>
        </p:txBody>
      </p:sp>
      <p:sp>
        <p:nvSpPr>
          <p:cNvPr id="20" name="TextBox 19"/>
          <p:cNvSpPr txBox="1"/>
          <p:nvPr/>
        </p:nvSpPr>
        <p:spPr>
          <a:xfrm>
            <a:off x="5532120" y="2240280"/>
            <a:ext cx="292608" cy="237744"/>
          </a:xfrm>
          <a:prstGeom prst="rect">
            <a:avLst/>
          </a:prstGeom>
          <a:noFill/>
        </p:spPr>
        <p:txBody>
          <a:bodyPr wrap="square">
            <a:spAutoFit/>
          </a:bodyPr>
          <a:lstStyle/>
          <a:p>
            <a:pPr algn="l"/>
            <a:r>
              <a:rPr sz="1200" b="1" i="0">
                <a:solidFill>
                  <a:srgbClr val="5A7A94"/>
                </a:solidFill>
              </a:rPr>
              <a:t>↓</a:t>
            </a:r>
          </a:p>
        </p:txBody>
      </p:sp>
      <p:sp>
        <p:nvSpPr>
          <p:cNvPr id="21" name="Rectangle 20"/>
          <p:cNvSpPr/>
          <p:nvPr/>
        </p:nvSpPr>
        <p:spPr>
          <a:xfrm>
            <a:off x="3794760" y="2560320"/>
            <a:ext cx="1874519" cy="411480"/>
          </a:xfrm>
          <a:prstGeom prst="rect">
            <a:avLst/>
          </a:prstGeom>
          <a:solidFill>
            <a:srgbClr val="AA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94760" y="2578608"/>
            <a:ext cx="1874519" cy="347472"/>
          </a:xfrm>
          <a:prstGeom prst="rect">
            <a:avLst/>
          </a:prstGeom>
          <a:noFill/>
        </p:spPr>
        <p:txBody>
          <a:bodyPr wrap="square">
            <a:spAutoFit/>
          </a:bodyPr>
          <a:lstStyle/>
          <a:p>
            <a:pPr algn="ctr"/>
            <a:r>
              <a:rPr sz="900" b="1" i="0">
                <a:solidFill>
                  <a:srgbClr val="FFFFFF"/>
                </a:solidFill>
              </a:rPr>
              <a:t>Pod MySQL 8.0  :3306</a:t>
            </a:r>
          </a:p>
        </p:txBody>
      </p:sp>
      <p:sp>
        <p:nvSpPr>
          <p:cNvPr id="23" name="Rectangle 22"/>
          <p:cNvSpPr/>
          <p:nvPr/>
        </p:nvSpPr>
        <p:spPr>
          <a:xfrm>
            <a:off x="274320" y="3566160"/>
            <a:ext cx="2011680" cy="137160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3566160"/>
            <a:ext cx="2011680" cy="27432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3602736"/>
            <a:ext cx="1828800" cy="228600"/>
          </a:xfrm>
          <a:prstGeom prst="rect">
            <a:avLst/>
          </a:prstGeom>
          <a:noFill/>
        </p:spPr>
        <p:txBody>
          <a:bodyPr wrap="square">
            <a:spAutoFit/>
          </a:bodyPr>
          <a:lstStyle/>
          <a:p>
            <a:pPr algn="l"/>
            <a:r>
              <a:rPr sz="900" b="1" i="0">
                <a:solidFill>
                  <a:srgbClr val="FFFFFF"/>
                </a:solidFill>
              </a:rPr>
              <a:t>VPC  10.1.0.0/16</a:t>
            </a:r>
          </a:p>
        </p:txBody>
      </p:sp>
      <p:sp>
        <p:nvSpPr>
          <p:cNvPr id="26" name="TextBox 25"/>
          <p:cNvSpPr txBox="1"/>
          <p:nvPr/>
        </p:nvSpPr>
        <p:spPr>
          <a:xfrm>
            <a:off x="365760" y="3904487"/>
            <a:ext cx="1828800" cy="914400"/>
          </a:xfrm>
          <a:prstGeom prst="rect">
            <a:avLst/>
          </a:prstGeom>
          <a:noFill/>
        </p:spPr>
        <p:txBody>
          <a:bodyPr wrap="square">
            <a:spAutoFit/>
          </a:bodyPr>
          <a:lstStyle/>
          <a:p>
            <a:pPr algn="l"/>
            <a:r>
              <a:rPr sz="900" b="0" i="0">
                <a:solidFill>
                  <a:srgbClr val="1E2D40"/>
                </a:solidFill>
              </a:rPr>
              <a:t>2 subredes públicas  (ELB)
2 subredes privadas (nodos)
Tags kubernetes.io/role/elb=1</a:t>
            </a:r>
          </a:p>
        </p:txBody>
      </p:sp>
      <p:sp>
        <p:nvSpPr>
          <p:cNvPr id="27" name="Rectangle 26"/>
          <p:cNvSpPr/>
          <p:nvPr/>
        </p:nvSpPr>
        <p:spPr>
          <a:xfrm>
            <a:off x="2423160" y="3566160"/>
            <a:ext cx="2011680" cy="137160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423160" y="3566160"/>
            <a:ext cx="2011680" cy="2743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14600" y="3602736"/>
            <a:ext cx="1828800" cy="228600"/>
          </a:xfrm>
          <a:prstGeom prst="rect">
            <a:avLst/>
          </a:prstGeom>
          <a:noFill/>
        </p:spPr>
        <p:txBody>
          <a:bodyPr wrap="square">
            <a:spAutoFit/>
          </a:bodyPr>
          <a:lstStyle/>
          <a:p>
            <a:pPr algn="l"/>
            <a:r>
              <a:rPr sz="900" b="1" i="0">
                <a:solidFill>
                  <a:srgbClr val="FFFFFF"/>
                </a:solidFill>
              </a:rPr>
              <a:t>Security Groups</a:t>
            </a:r>
          </a:p>
        </p:txBody>
      </p:sp>
      <p:sp>
        <p:nvSpPr>
          <p:cNvPr id="30" name="TextBox 29"/>
          <p:cNvSpPr txBox="1"/>
          <p:nvPr/>
        </p:nvSpPr>
        <p:spPr>
          <a:xfrm>
            <a:off x="2514600" y="3904487"/>
            <a:ext cx="1828800" cy="914400"/>
          </a:xfrm>
          <a:prstGeom prst="rect">
            <a:avLst/>
          </a:prstGeom>
          <a:noFill/>
        </p:spPr>
        <p:txBody>
          <a:bodyPr wrap="square">
            <a:spAutoFit/>
          </a:bodyPr>
          <a:lstStyle/>
          <a:p>
            <a:pPr algn="l"/>
            <a:r>
              <a:rPr sz="900" b="0" i="0">
                <a:solidFill>
                  <a:srgbClr val="1E2D40"/>
                </a:solidFill>
              </a:rPr>
              <a:t>sg-cluster → puerto 443 HTTPS
sg-nodes → 10.1.0.0/16 all
ELB → 0.0.0.0/0 :80</a:t>
            </a:r>
          </a:p>
        </p:txBody>
      </p:sp>
      <p:sp>
        <p:nvSpPr>
          <p:cNvPr id="31" name="Rectangle 30"/>
          <p:cNvSpPr/>
          <p:nvPr/>
        </p:nvSpPr>
        <p:spPr>
          <a:xfrm>
            <a:off x="4572000" y="3566160"/>
            <a:ext cx="2011680" cy="137160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0" y="3566160"/>
            <a:ext cx="2011680" cy="274320"/>
          </a:xfrm>
          <a:prstGeom prst="rect">
            <a:avLst/>
          </a:prstGeom>
          <a:solidFill>
            <a:srgbClr val="782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3440" y="3602736"/>
            <a:ext cx="1828800" cy="228600"/>
          </a:xfrm>
          <a:prstGeom prst="rect">
            <a:avLst/>
          </a:prstGeom>
          <a:noFill/>
        </p:spPr>
        <p:txBody>
          <a:bodyPr wrap="square">
            <a:spAutoFit/>
          </a:bodyPr>
          <a:lstStyle/>
          <a:p>
            <a:pPr algn="l"/>
            <a:r>
              <a:rPr sz="900" b="1" i="0">
                <a:solidFill>
                  <a:srgbClr val="FFFFFF"/>
                </a:solidFill>
              </a:rPr>
              <a:t>Roles IAM — LabRole</a:t>
            </a:r>
          </a:p>
        </p:txBody>
      </p:sp>
      <p:sp>
        <p:nvSpPr>
          <p:cNvPr id="34" name="TextBox 33"/>
          <p:cNvSpPr txBox="1"/>
          <p:nvPr/>
        </p:nvSpPr>
        <p:spPr>
          <a:xfrm>
            <a:off x="4663440" y="3904487"/>
            <a:ext cx="1828800" cy="914400"/>
          </a:xfrm>
          <a:prstGeom prst="rect">
            <a:avLst/>
          </a:prstGeom>
          <a:noFill/>
        </p:spPr>
        <p:txBody>
          <a:bodyPr wrap="square">
            <a:spAutoFit/>
          </a:bodyPr>
          <a:lstStyle/>
          <a:p>
            <a:pPr algn="l"/>
            <a:r>
              <a:rPr sz="900" b="0" i="0">
                <a:solidFill>
                  <a:srgbClr val="1E2D40"/>
                </a:solidFill>
              </a:rPr>
              <a:t>Cluster role: eks.amazonaws.com
Node role: ec2.amazonaws.com
Sin iam:CreateRole (Academy)</a:t>
            </a:r>
          </a:p>
        </p:txBody>
      </p:sp>
      <p:sp>
        <p:nvSpPr>
          <p:cNvPr id="35" name="Rectangle 34"/>
          <p:cNvSpPr/>
          <p:nvPr/>
        </p:nvSpPr>
        <p:spPr>
          <a:xfrm>
            <a:off x="6720840" y="3566160"/>
            <a:ext cx="2011680" cy="137160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720840" y="3566160"/>
            <a:ext cx="2011680" cy="274320"/>
          </a:xfrm>
          <a:prstGeom prst="rect">
            <a:avLst/>
          </a:prstGeom>
          <a:solidFill>
            <a:srgbClr val="027A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12279" y="3602736"/>
            <a:ext cx="1828800" cy="228600"/>
          </a:xfrm>
          <a:prstGeom prst="rect">
            <a:avLst/>
          </a:prstGeom>
          <a:noFill/>
        </p:spPr>
        <p:txBody>
          <a:bodyPr wrap="square">
            <a:spAutoFit/>
          </a:bodyPr>
          <a:lstStyle/>
          <a:p>
            <a:pPr algn="l"/>
            <a:r>
              <a:rPr sz="900" b="1" i="0">
                <a:solidFill>
                  <a:srgbClr val="FFFFFF"/>
                </a:solidFill>
              </a:rPr>
              <a:t>HPA  (metrics-server)</a:t>
            </a:r>
          </a:p>
        </p:txBody>
      </p:sp>
      <p:sp>
        <p:nvSpPr>
          <p:cNvPr id="38" name="TextBox 37"/>
          <p:cNvSpPr txBox="1"/>
          <p:nvPr/>
        </p:nvSpPr>
        <p:spPr>
          <a:xfrm>
            <a:off x="6812279" y="3904487"/>
            <a:ext cx="1828800" cy="914400"/>
          </a:xfrm>
          <a:prstGeom prst="rect">
            <a:avLst/>
          </a:prstGeom>
          <a:noFill/>
        </p:spPr>
        <p:txBody>
          <a:bodyPr wrap="square">
            <a:spAutoFit/>
          </a:bodyPr>
          <a:lstStyle/>
          <a:p>
            <a:pPr algn="l"/>
            <a:r>
              <a:rPr sz="900" b="0" i="0">
                <a:solidFill>
                  <a:srgbClr val="1E2D40"/>
                </a:solidFill>
              </a:rPr>
              <a:t>minReplicas: 2  maxReplicas: 5
CPU threshold: 50 %
autoscaling/v2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
            <a:ext cx="8412480" cy="475488"/>
          </a:xfrm>
          <a:prstGeom prst="rect">
            <a:avLst/>
          </a:prstGeom>
          <a:noFill/>
        </p:spPr>
        <p:txBody>
          <a:bodyPr wrap="square">
            <a:spAutoFit/>
          </a:bodyPr>
          <a:lstStyle/>
          <a:p>
            <a:pPr algn="l"/>
            <a:r>
              <a:rPr sz="2100" b="1" i="0">
                <a:solidFill>
                  <a:srgbClr val="FFFFFF"/>
                </a:solidFill>
              </a:rPr>
              <a:t>Garantías del sistema  (IE8 — escalabilidad, HA, tolerancia, automatización)</a:t>
            </a:r>
          </a:p>
        </p:txBody>
      </p:sp>
      <p:sp>
        <p:nvSpPr>
          <p:cNvPr id="4" name="Rectangle 3"/>
          <p:cNvSpPr/>
          <p:nvPr/>
        </p:nvSpPr>
        <p:spPr>
          <a:xfrm>
            <a:off x="274320" y="777240"/>
            <a:ext cx="8595360" cy="91440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777240"/>
            <a:ext cx="320040" cy="9144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850392"/>
            <a:ext cx="7955279" cy="274320"/>
          </a:xfrm>
          <a:prstGeom prst="rect">
            <a:avLst/>
          </a:prstGeom>
          <a:noFill/>
        </p:spPr>
        <p:txBody>
          <a:bodyPr wrap="square">
            <a:spAutoFit/>
          </a:bodyPr>
          <a:lstStyle/>
          <a:p>
            <a:pPr algn="l"/>
            <a:r>
              <a:rPr sz="1100" b="1" i="0">
                <a:solidFill>
                  <a:srgbClr val="02C39A"/>
                </a:solidFill>
              </a:rPr>
              <a:t>📈  Escalabilidad</a:t>
            </a:r>
          </a:p>
        </p:txBody>
      </p:sp>
      <p:sp>
        <p:nvSpPr>
          <p:cNvPr id="7" name="TextBox 6"/>
          <p:cNvSpPr txBox="1"/>
          <p:nvPr/>
        </p:nvSpPr>
        <p:spPr>
          <a:xfrm>
            <a:off x="685800" y="1161288"/>
            <a:ext cx="7955279" cy="475488"/>
          </a:xfrm>
          <a:prstGeom prst="rect">
            <a:avLst/>
          </a:prstGeom>
          <a:noFill/>
        </p:spPr>
        <p:txBody>
          <a:bodyPr wrap="square">
            <a:spAutoFit/>
          </a:bodyPr>
          <a:lstStyle/>
          <a:p>
            <a:pPr algn="l"/>
            <a:r>
              <a:rPr sz="1000" b="0" i="0">
                <a:solidFill>
                  <a:srgbClr val="1E2D40"/>
                </a:solidFill>
              </a:rPr>
              <a:t>HPA escala réplicas 2→5 basado en CPU. Si el nodo se satura, el Node Group (min 1 / max 2) puede añadir un segundo t3.medium automáticamente vía Cluster Autoscaler de AWS.</a:t>
            </a:r>
          </a:p>
        </p:txBody>
      </p:sp>
      <p:sp>
        <p:nvSpPr>
          <p:cNvPr id="8" name="Rectangle 7"/>
          <p:cNvSpPr/>
          <p:nvPr/>
        </p:nvSpPr>
        <p:spPr>
          <a:xfrm>
            <a:off x="274320" y="1764792"/>
            <a:ext cx="8595360" cy="91440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764792"/>
            <a:ext cx="320040" cy="9144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837944"/>
            <a:ext cx="7955279" cy="274320"/>
          </a:xfrm>
          <a:prstGeom prst="rect">
            <a:avLst/>
          </a:prstGeom>
          <a:noFill/>
        </p:spPr>
        <p:txBody>
          <a:bodyPr wrap="square">
            <a:spAutoFit/>
          </a:bodyPr>
          <a:lstStyle/>
          <a:p>
            <a:pPr algn="l"/>
            <a:r>
              <a:rPr sz="1100" b="1" i="0">
                <a:solidFill>
                  <a:srgbClr val="1C7293"/>
                </a:solidFill>
              </a:rPr>
              <a:t>🔁  Alta Disponibilidad</a:t>
            </a:r>
          </a:p>
        </p:txBody>
      </p:sp>
      <p:sp>
        <p:nvSpPr>
          <p:cNvPr id="11" name="TextBox 10"/>
          <p:cNvSpPr txBox="1"/>
          <p:nvPr/>
        </p:nvSpPr>
        <p:spPr>
          <a:xfrm>
            <a:off x="685800" y="2148840"/>
            <a:ext cx="7955279" cy="475488"/>
          </a:xfrm>
          <a:prstGeom prst="rect">
            <a:avLst/>
          </a:prstGeom>
          <a:noFill/>
        </p:spPr>
        <p:txBody>
          <a:bodyPr wrap="square">
            <a:spAutoFit/>
          </a:bodyPr>
          <a:lstStyle/>
          <a:p>
            <a:pPr algn="l"/>
            <a:r>
              <a:rPr sz="1000" b="0" i="0">
                <a:solidFill>
                  <a:srgbClr val="1E2D40"/>
                </a:solidFill>
              </a:rPr>
              <a:t>Cada Deployment corre con mínimo 2 réplicas distribuidas en el nodo. Si un pod cae, el otro sigue atendiendo mientras Kubernetes recrea el fallido. El ELB distribuye el tráfico entre réplicas activas.</a:t>
            </a:r>
          </a:p>
        </p:txBody>
      </p:sp>
      <p:sp>
        <p:nvSpPr>
          <p:cNvPr id="12" name="Rectangle 11"/>
          <p:cNvSpPr/>
          <p:nvPr/>
        </p:nvSpPr>
        <p:spPr>
          <a:xfrm>
            <a:off x="274320" y="2752344"/>
            <a:ext cx="8595360" cy="91440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2752344"/>
            <a:ext cx="320040" cy="9144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825496"/>
            <a:ext cx="7955279" cy="274320"/>
          </a:xfrm>
          <a:prstGeom prst="rect">
            <a:avLst/>
          </a:prstGeom>
          <a:noFill/>
        </p:spPr>
        <p:txBody>
          <a:bodyPr wrap="square">
            <a:spAutoFit/>
          </a:bodyPr>
          <a:lstStyle/>
          <a:p>
            <a:pPr algn="l"/>
            <a:r>
              <a:rPr sz="1100" b="1" i="0">
                <a:solidFill>
                  <a:srgbClr val="065A82"/>
                </a:solidFill>
              </a:rPr>
              <a:t>🛡️  Tolerancia a fallos</a:t>
            </a:r>
          </a:p>
        </p:txBody>
      </p:sp>
      <p:sp>
        <p:nvSpPr>
          <p:cNvPr id="15" name="TextBox 14"/>
          <p:cNvSpPr txBox="1"/>
          <p:nvPr/>
        </p:nvSpPr>
        <p:spPr>
          <a:xfrm>
            <a:off x="685800" y="3136392"/>
            <a:ext cx="7955279" cy="475488"/>
          </a:xfrm>
          <a:prstGeom prst="rect">
            <a:avLst/>
          </a:prstGeom>
          <a:noFill/>
        </p:spPr>
        <p:txBody>
          <a:bodyPr wrap="square">
            <a:spAutoFit/>
          </a:bodyPr>
          <a:lstStyle/>
          <a:p>
            <a:pPr algn="l"/>
            <a:r>
              <a:rPr sz="1000" b="0" i="0">
                <a:solidFill>
                  <a:srgbClr val="1E2D40"/>
                </a:solidFill>
              </a:rPr>
              <a:t>RollingUpdate con maxSurge:0 / maxUnavailable:1 garantiza que un pod viejo se apaga solo cuando el nuevo está Ready (readinessProbe). Nunca baja a 0 réplicas durante un despliegue.</a:t>
            </a:r>
          </a:p>
        </p:txBody>
      </p:sp>
      <p:sp>
        <p:nvSpPr>
          <p:cNvPr id="16" name="Rectangle 15"/>
          <p:cNvSpPr/>
          <p:nvPr/>
        </p:nvSpPr>
        <p:spPr>
          <a:xfrm>
            <a:off x="274320" y="3739896"/>
            <a:ext cx="8595360" cy="91440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3739896"/>
            <a:ext cx="320040" cy="914400"/>
          </a:xfrm>
          <a:prstGeom prst="rect">
            <a:avLst/>
          </a:prstGeom>
          <a:solidFill>
            <a:srgbClr val="027A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813048"/>
            <a:ext cx="7955279" cy="274320"/>
          </a:xfrm>
          <a:prstGeom prst="rect">
            <a:avLst/>
          </a:prstGeom>
          <a:noFill/>
        </p:spPr>
        <p:txBody>
          <a:bodyPr wrap="square">
            <a:spAutoFit/>
          </a:bodyPr>
          <a:lstStyle/>
          <a:p>
            <a:pPr algn="l"/>
            <a:r>
              <a:rPr sz="1100" b="1" i="0">
                <a:solidFill>
                  <a:srgbClr val="027A63"/>
                </a:solidFill>
              </a:rPr>
              <a:t>⚙️  Automatización operativa</a:t>
            </a:r>
          </a:p>
        </p:txBody>
      </p:sp>
      <p:sp>
        <p:nvSpPr>
          <p:cNvPr id="19" name="TextBox 18"/>
          <p:cNvSpPr txBox="1"/>
          <p:nvPr/>
        </p:nvSpPr>
        <p:spPr>
          <a:xfrm>
            <a:off x="685800" y="4123944"/>
            <a:ext cx="7955279" cy="475488"/>
          </a:xfrm>
          <a:prstGeom prst="rect">
            <a:avLst/>
          </a:prstGeom>
          <a:noFill/>
        </p:spPr>
        <p:txBody>
          <a:bodyPr wrap="square">
            <a:spAutoFit/>
          </a:bodyPr>
          <a:lstStyle/>
          <a:p>
            <a:pPr algn="l"/>
            <a:r>
              <a:rPr sz="1000" b="0" i="0">
                <a:solidFill>
                  <a:srgbClr val="1E2D40"/>
                </a:solidFill>
              </a:rPr>
              <a:t>Un push a la rama 'deploy' dispara cd-eks.yml: build de 3 imágenes, push a ECR, actualización de secrets, apply de 5 manifiestos, y espera de rollouts — sin intervención humana.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
            <a:ext cx="8412480" cy="475488"/>
          </a:xfrm>
          <a:prstGeom prst="rect">
            <a:avLst/>
          </a:prstGeom>
          <a:noFill/>
        </p:spPr>
        <p:txBody>
          <a:bodyPr wrap="square">
            <a:spAutoFit/>
          </a:bodyPr>
          <a:lstStyle/>
          <a:p>
            <a:pPr algn="l"/>
            <a:r>
              <a:rPr sz="2100" b="1" i="0">
                <a:solidFill>
                  <a:srgbClr val="FFFFFF"/>
                </a:solidFill>
              </a:rPr>
              <a:t>Despliegue de servicios — Deployments, ECR, variables de entorno</a:t>
            </a:r>
          </a:p>
        </p:txBody>
      </p:sp>
      <p:sp>
        <p:nvSpPr>
          <p:cNvPr id="4" name="Rectangle 3"/>
          <p:cNvSpPr/>
          <p:nvPr/>
        </p:nvSpPr>
        <p:spPr>
          <a:xfrm>
            <a:off x="274320" y="777240"/>
            <a:ext cx="4023360" cy="406908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50392"/>
            <a:ext cx="3657600" cy="274320"/>
          </a:xfrm>
          <a:prstGeom prst="rect">
            <a:avLst/>
          </a:prstGeom>
          <a:noFill/>
        </p:spPr>
        <p:txBody>
          <a:bodyPr wrap="square">
            <a:spAutoFit/>
          </a:bodyPr>
          <a:lstStyle/>
          <a:p>
            <a:pPr algn="l"/>
            <a:r>
              <a:rPr sz="1100" b="1" i="0">
                <a:solidFill>
                  <a:srgbClr val="065A82"/>
                </a:solidFill>
              </a:rPr>
              <a:t>Mecanismo de despliegue (EKS)</a:t>
            </a:r>
          </a:p>
        </p:txBody>
      </p:sp>
      <p:sp>
        <p:nvSpPr>
          <p:cNvPr id="6" name="TextBox 5"/>
          <p:cNvSpPr txBox="1"/>
          <p:nvPr/>
        </p:nvSpPr>
        <p:spPr>
          <a:xfrm>
            <a:off x="457200" y="1207008"/>
            <a:ext cx="1417320" cy="274320"/>
          </a:xfrm>
          <a:prstGeom prst="rect">
            <a:avLst/>
          </a:prstGeom>
          <a:noFill/>
        </p:spPr>
        <p:txBody>
          <a:bodyPr wrap="square">
            <a:spAutoFit/>
          </a:bodyPr>
          <a:lstStyle/>
          <a:p>
            <a:pPr algn="l"/>
            <a:r>
              <a:rPr sz="900" b="0" i="0">
                <a:solidFill>
                  <a:srgbClr val="5A7A94"/>
                </a:solidFill>
              </a:rPr>
              <a:t>Recurso k8s:</a:t>
            </a:r>
          </a:p>
        </p:txBody>
      </p:sp>
      <p:sp>
        <p:nvSpPr>
          <p:cNvPr id="7" name="TextBox 6"/>
          <p:cNvSpPr txBox="1"/>
          <p:nvPr/>
        </p:nvSpPr>
        <p:spPr>
          <a:xfrm>
            <a:off x="1920240" y="1207008"/>
            <a:ext cx="2240280" cy="347472"/>
          </a:xfrm>
          <a:prstGeom prst="rect">
            <a:avLst/>
          </a:prstGeom>
          <a:noFill/>
        </p:spPr>
        <p:txBody>
          <a:bodyPr wrap="square">
            <a:spAutoFit/>
          </a:bodyPr>
          <a:lstStyle/>
          <a:p>
            <a:pPr algn="l"/>
            <a:r>
              <a:rPr sz="900" b="0" i="0">
                <a:solidFill>
                  <a:srgbClr val="1E2D40"/>
                </a:solidFill>
              </a:rPr>
              <a:t>Deployment (apps/v1)</a:t>
            </a:r>
          </a:p>
        </p:txBody>
      </p:sp>
      <p:sp>
        <p:nvSpPr>
          <p:cNvPr id="8" name="TextBox 7"/>
          <p:cNvSpPr txBox="1"/>
          <p:nvPr/>
        </p:nvSpPr>
        <p:spPr>
          <a:xfrm>
            <a:off x="457200" y="1499616"/>
            <a:ext cx="1417320" cy="274320"/>
          </a:xfrm>
          <a:prstGeom prst="rect">
            <a:avLst/>
          </a:prstGeom>
          <a:noFill/>
        </p:spPr>
        <p:txBody>
          <a:bodyPr wrap="square">
            <a:spAutoFit/>
          </a:bodyPr>
          <a:lstStyle/>
          <a:p>
            <a:pPr algn="l"/>
            <a:r>
              <a:rPr sz="900" b="0" i="0">
                <a:solidFill>
                  <a:srgbClr val="5A7A94"/>
                </a:solidFill>
              </a:rPr>
              <a:t>Réplicas iniciales:</a:t>
            </a:r>
          </a:p>
        </p:txBody>
      </p:sp>
      <p:sp>
        <p:nvSpPr>
          <p:cNvPr id="9" name="TextBox 8"/>
          <p:cNvSpPr txBox="1"/>
          <p:nvPr/>
        </p:nvSpPr>
        <p:spPr>
          <a:xfrm>
            <a:off x="1920240" y="1499616"/>
            <a:ext cx="2240280" cy="347472"/>
          </a:xfrm>
          <a:prstGeom prst="rect">
            <a:avLst/>
          </a:prstGeom>
          <a:noFill/>
        </p:spPr>
        <p:txBody>
          <a:bodyPr wrap="square">
            <a:spAutoFit/>
          </a:bodyPr>
          <a:lstStyle/>
          <a:p>
            <a:pPr algn="l"/>
            <a:r>
              <a:rPr sz="900" b="0" i="0">
                <a:solidFill>
                  <a:srgbClr val="1E2D40"/>
                </a:solidFill>
              </a:rPr>
              <a:t>2 (backends y MySQL)</a:t>
            </a:r>
          </a:p>
        </p:txBody>
      </p:sp>
      <p:sp>
        <p:nvSpPr>
          <p:cNvPr id="10" name="TextBox 9"/>
          <p:cNvSpPr txBox="1"/>
          <p:nvPr/>
        </p:nvSpPr>
        <p:spPr>
          <a:xfrm>
            <a:off x="457200" y="1792224"/>
            <a:ext cx="1417320" cy="274320"/>
          </a:xfrm>
          <a:prstGeom prst="rect">
            <a:avLst/>
          </a:prstGeom>
          <a:noFill/>
        </p:spPr>
        <p:txBody>
          <a:bodyPr wrap="square">
            <a:spAutoFit/>
          </a:bodyPr>
          <a:lstStyle/>
          <a:p>
            <a:pPr algn="l"/>
            <a:r>
              <a:rPr sz="900" b="0" i="0">
                <a:solidFill>
                  <a:srgbClr val="5A7A94"/>
                </a:solidFill>
              </a:rPr>
              <a:t>Imagen:</a:t>
            </a:r>
          </a:p>
        </p:txBody>
      </p:sp>
      <p:sp>
        <p:nvSpPr>
          <p:cNvPr id="11" name="TextBox 10"/>
          <p:cNvSpPr txBox="1"/>
          <p:nvPr/>
        </p:nvSpPr>
        <p:spPr>
          <a:xfrm>
            <a:off x="1920240" y="1792224"/>
            <a:ext cx="2240280" cy="347472"/>
          </a:xfrm>
          <a:prstGeom prst="rect">
            <a:avLst/>
          </a:prstGeom>
          <a:noFill/>
        </p:spPr>
        <p:txBody>
          <a:bodyPr wrap="square">
            <a:spAutoFit/>
          </a:bodyPr>
          <a:lstStyle/>
          <a:p>
            <a:pPr algn="l"/>
            <a:r>
              <a:rPr sz="900" b="0" i="0">
                <a:solidFill>
                  <a:srgbClr val="1E2D40"/>
                </a:solidFill>
              </a:rPr>
              <a:t>&lt;account&gt;.dkr.ecr.us-east-1.amazonaws.com/
innovatech-ventas:latest</a:t>
            </a:r>
          </a:p>
        </p:txBody>
      </p:sp>
      <p:sp>
        <p:nvSpPr>
          <p:cNvPr id="12" name="TextBox 11"/>
          <p:cNvSpPr txBox="1"/>
          <p:nvPr/>
        </p:nvSpPr>
        <p:spPr>
          <a:xfrm>
            <a:off x="457200" y="2176272"/>
            <a:ext cx="1417320" cy="274320"/>
          </a:xfrm>
          <a:prstGeom prst="rect">
            <a:avLst/>
          </a:prstGeom>
          <a:noFill/>
        </p:spPr>
        <p:txBody>
          <a:bodyPr wrap="square">
            <a:spAutoFit/>
          </a:bodyPr>
          <a:lstStyle/>
          <a:p>
            <a:pPr algn="l"/>
            <a:r>
              <a:rPr sz="900" b="0" i="0">
                <a:solidFill>
                  <a:srgbClr val="5A7A94"/>
                </a:solidFill>
              </a:rPr>
              <a:t>imagePullPolicy:</a:t>
            </a:r>
          </a:p>
        </p:txBody>
      </p:sp>
      <p:sp>
        <p:nvSpPr>
          <p:cNvPr id="13" name="TextBox 12"/>
          <p:cNvSpPr txBox="1"/>
          <p:nvPr/>
        </p:nvSpPr>
        <p:spPr>
          <a:xfrm>
            <a:off x="1920240" y="2176272"/>
            <a:ext cx="2240280" cy="347472"/>
          </a:xfrm>
          <a:prstGeom prst="rect">
            <a:avLst/>
          </a:prstGeom>
          <a:noFill/>
        </p:spPr>
        <p:txBody>
          <a:bodyPr wrap="square">
            <a:spAutoFit/>
          </a:bodyPr>
          <a:lstStyle/>
          <a:p>
            <a:pPr algn="l"/>
            <a:r>
              <a:rPr sz="900" b="0" i="0">
                <a:solidFill>
                  <a:srgbClr val="1E2D40"/>
                </a:solidFill>
              </a:rPr>
              <a:t>Always — siempre descarga la última</a:t>
            </a:r>
          </a:p>
        </p:txBody>
      </p:sp>
      <p:sp>
        <p:nvSpPr>
          <p:cNvPr id="14" name="TextBox 13"/>
          <p:cNvSpPr txBox="1"/>
          <p:nvPr/>
        </p:nvSpPr>
        <p:spPr>
          <a:xfrm>
            <a:off x="457200" y="2468880"/>
            <a:ext cx="1417320" cy="274320"/>
          </a:xfrm>
          <a:prstGeom prst="rect">
            <a:avLst/>
          </a:prstGeom>
          <a:noFill/>
        </p:spPr>
        <p:txBody>
          <a:bodyPr wrap="square">
            <a:spAutoFit/>
          </a:bodyPr>
          <a:lstStyle/>
          <a:p>
            <a:pPr algn="l"/>
            <a:r>
              <a:rPr sz="900" b="0" i="0">
                <a:solidFill>
                  <a:srgbClr val="5A7A94"/>
                </a:solidFill>
              </a:rPr>
              <a:t>imagePullSecrets:</a:t>
            </a:r>
          </a:p>
        </p:txBody>
      </p:sp>
      <p:sp>
        <p:nvSpPr>
          <p:cNvPr id="15" name="TextBox 14"/>
          <p:cNvSpPr txBox="1"/>
          <p:nvPr/>
        </p:nvSpPr>
        <p:spPr>
          <a:xfrm>
            <a:off x="1920240" y="2468880"/>
            <a:ext cx="2240280" cy="347472"/>
          </a:xfrm>
          <a:prstGeom prst="rect">
            <a:avLst/>
          </a:prstGeom>
          <a:noFill/>
        </p:spPr>
        <p:txBody>
          <a:bodyPr wrap="square">
            <a:spAutoFit/>
          </a:bodyPr>
          <a:lstStyle/>
          <a:p>
            <a:pPr algn="l"/>
            <a:r>
              <a:rPr sz="900" b="0" i="0">
                <a:solidFill>
                  <a:srgbClr val="1E2D40"/>
                </a:solidFill>
              </a:rPr>
              <a:t>ecr-secret (docker-registry, refresh en pipeline)</a:t>
            </a:r>
          </a:p>
        </p:txBody>
      </p:sp>
      <p:sp>
        <p:nvSpPr>
          <p:cNvPr id="16" name="TextBox 15"/>
          <p:cNvSpPr txBox="1"/>
          <p:nvPr/>
        </p:nvSpPr>
        <p:spPr>
          <a:xfrm>
            <a:off x="457200" y="2761488"/>
            <a:ext cx="1417320" cy="274320"/>
          </a:xfrm>
          <a:prstGeom prst="rect">
            <a:avLst/>
          </a:prstGeom>
          <a:noFill/>
        </p:spPr>
        <p:txBody>
          <a:bodyPr wrap="square">
            <a:spAutoFit/>
          </a:bodyPr>
          <a:lstStyle/>
          <a:p>
            <a:pPr algn="l"/>
            <a:r>
              <a:rPr sz="900" b="0" i="0">
                <a:solidFill>
                  <a:srgbClr val="5A7A94"/>
                </a:solidFill>
              </a:rPr>
              <a:t>URL pública:</a:t>
            </a:r>
          </a:p>
        </p:txBody>
      </p:sp>
      <p:sp>
        <p:nvSpPr>
          <p:cNvPr id="17" name="TextBox 16"/>
          <p:cNvSpPr txBox="1"/>
          <p:nvPr/>
        </p:nvSpPr>
        <p:spPr>
          <a:xfrm>
            <a:off x="1920240" y="2761488"/>
            <a:ext cx="2240280" cy="347472"/>
          </a:xfrm>
          <a:prstGeom prst="rect">
            <a:avLst/>
          </a:prstGeom>
          <a:noFill/>
        </p:spPr>
        <p:txBody>
          <a:bodyPr wrap="square">
            <a:spAutoFit/>
          </a:bodyPr>
          <a:lstStyle/>
          <a:p>
            <a:pPr algn="l"/>
            <a:r>
              <a:rPr sz="900" b="0" i="0">
                <a:solidFill>
                  <a:srgbClr val="1E2D40"/>
                </a:solidFill>
              </a:rPr>
              <a:t>Service tipo LoadBalancer → Classic ELB port :80</a:t>
            </a:r>
          </a:p>
        </p:txBody>
      </p:sp>
      <p:sp>
        <p:nvSpPr>
          <p:cNvPr id="18" name="TextBox 17"/>
          <p:cNvSpPr txBox="1"/>
          <p:nvPr/>
        </p:nvSpPr>
        <p:spPr>
          <a:xfrm>
            <a:off x="457200" y="3054096"/>
            <a:ext cx="1417320" cy="274320"/>
          </a:xfrm>
          <a:prstGeom prst="rect">
            <a:avLst/>
          </a:prstGeom>
          <a:noFill/>
        </p:spPr>
        <p:txBody>
          <a:bodyPr wrap="square">
            <a:spAutoFit/>
          </a:bodyPr>
          <a:lstStyle/>
          <a:p>
            <a:pPr algn="l"/>
            <a:r>
              <a:rPr sz="900" b="0" i="0">
                <a:solidFill>
                  <a:srgbClr val="5A7A94"/>
                </a:solidFill>
              </a:rPr>
              <a:t>DNS interno:</a:t>
            </a:r>
          </a:p>
        </p:txBody>
      </p:sp>
      <p:sp>
        <p:nvSpPr>
          <p:cNvPr id="19" name="TextBox 18"/>
          <p:cNvSpPr txBox="1"/>
          <p:nvPr/>
        </p:nvSpPr>
        <p:spPr>
          <a:xfrm>
            <a:off x="1920240" y="3054096"/>
            <a:ext cx="2240280" cy="347472"/>
          </a:xfrm>
          <a:prstGeom prst="rect">
            <a:avLst/>
          </a:prstGeom>
          <a:noFill/>
        </p:spPr>
        <p:txBody>
          <a:bodyPr wrap="square">
            <a:spAutoFit/>
          </a:bodyPr>
          <a:lstStyle/>
          <a:p>
            <a:pPr algn="l"/>
            <a:r>
              <a:rPr sz="900" b="0" i="0">
                <a:solidFill>
                  <a:srgbClr val="1E2D40"/>
                </a:solidFill>
              </a:rPr>
              <a:t>backend-ventas:8080  (ClusterIP)
backend-despachos:8081 (ClusterIP)</a:t>
            </a:r>
          </a:p>
        </p:txBody>
      </p:sp>
      <p:sp>
        <p:nvSpPr>
          <p:cNvPr id="20" name="Rectangle 19"/>
          <p:cNvSpPr/>
          <p:nvPr/>
        </p:nvSpPr>
        <p:spPr>
          <a:xfrm>
            <a:off x="4480560" y="777240"/>
            <a:ext cx="4389120" cy="406908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850392"/>
            <a:ext cx="4023360" cy="274320"/>
          </a:xfrm>
          <a:prstGeom prst="rect">
            <a:avLst/>
          </a:prstGeom>
          <a:noFill/>
        </p:spPr>
        <p:txBody>
          <a:bodyPr wrap="square">
            <a:spAutoFit/>
          </a:bodyPr>
          <a:lstStyle/>
          <a:p>
            <a:pPr algn="l"/>
            <a:r>
              <a:rPr sz="1100" b="1" i="0">
                <a:solidFill>
                  <a:srgbClr val="065A82"/>
                </a:solidFill>
              </a:rPr>
              <a:t>Variables de entorno — backend-ventas</a:t>
            </a:r>
          </a:p>
        </p:txBody>
      </p:sp>
      <p:sp>
        <p:nvSpPr>
          <p:cNvPr id="22" name="Rectangle 21"/>
          <p:cNvSpPr/>
          <p:nvPr/>
        </p:nvSpPr>
        <p:spPr>
          <a:xfrm>
            <a:off x="4572000" y="1207008"/>
            <a:ext cx="4206240" cy="3246120"/>
          </a:xfrm>
          <a:prstGeom prst="rect">
            <a:avLst/>
          </a:prstGeom>
          <a:solidFill>
            <a:srgbClr val="1E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45152" y="1261872"/>
            <a:ext cx="3931920" cy="201168"/>
          </a:xfrm>
          <a:prstGeom prst="rect">
            <a:avLst/>
          </a:prstGeom>
          <a:noFill/>
        </p:spPr>
        <p:txBody>
          <a:bodyPr wrap="square">
            <a:spAutoFit/>
          </a:bodyPr>
          <a:lstStyle/>
          <a:p>
            <a:pPr algn="l"/>
            <a:r>
              <a:rPr sz="800" b="0" i="0">
                <a:solidFill>
                  <a:srgbClr val="FFFFFF"/>
                </a:solidFill>
              </a:rPr>
              <a:t>env:</a:t>
            </a:r>
          </a:p>
        </p:txBody>
      </p:sp>
      <p:sp>
        <p:nvSpPr>
          <p:cNvPr id="24" name="TextBox 23"/>
          <p:cNvSpPr txBox="1"/>
          <p:nvPr/>
        </p:nvSpPr>
        <p:spPr>
          <a:xfrm>
            <a:off x="4645152" y="1463039"/>
            <a:ext cx="3931920" cy="201168"/>
          </a:xfrm>
          <a:prstGeom prst="rect">
            <a:avLst/>
          </a:prstGeom>
          <a:noFill/>
        </p:spPr>
        <p:txBody>
          <a:bodyPr wrap="square">
            <a:spAutoFit/>
          </a:bodyPr>
          <a:lstStyle/>
          <a:p>
            <a:pPr algn="l"/>
            <a:r>
              <a:rPr sz="800" b="0" i="0">
                <a:solidFill>
                  <a:srgbClr val="7AB8D4"/>
                </a:solidFill>
              </a:rPr>
              <a:t>  - name: DB_ENDPOINT</a:t>
            </a:r>
          </a:p>
        </p:txBody>
      </p:sp>
      <p:sp>
        <p:nvSpPr>
          <p:cNvPr id="25" name="TextBox 24"/>
          <p:cNvSpPr txBox="1"/>
          <p:nvPr/>
        </p:nvSpPr>
        <p:spPr>
          <a:xfrm>
            <a:off x="4645152" y="1664207"/>
            <a:ext cx="3931920" cy="201168"/>
          </a:xfrm>
          <a:prstGeom prst="rect">
            <a:avLst/>
          </a:prstGeom>
          <a:noFill/>
        </p:spPr>
        <p:txBody>
          <a:bodyPr wrap="square">
            <a:spAutoFit/>
          </a:bodyPr>
          <a:lstStyle/>
          <a:p>
            <a:pPr algn="l"/>
            <a:r>
              <a:rPr sz="800" b="0" i="0">
                <a:solidFill>
                  <a:srgbClr val="02C39A"/>
                </a:solidFill>
              </a:rPr>
              <a:t>    value: "mysql"</a:t>
            </a:r>
          </a:p>
        </p:txBody>
      </p:sp>
      <p:sp>
        <p:nvSpPr>
          <p:cNvPr id="26" name="TextBox 25"/>
          <p:cNvSpPr txBox="1"/>
          <p:nvPr/>
        </p:nvSpPr>
        <p:spPr>
          <a:xfrm>
            <a:off x="4645152" y="1865376"/>
            <a:ext cx="3931920" cy="201168"/>
          </a:xfrm>
          <a:prstGeom prst="rect">
            <a:avLst/>
          </a:prstGeom>
          <a:noFill/>
        </p:spPr>
        <p:txBody>
          <a:bodyPr wrap="square">
            <a:spAutoFit/>
          </a:bodyPr>
          <a:lstStyle/>
          <a:p>
            <a:pPr algn="l"/>
            <a:r>
              <a:rPr sz="800" b="0" i="0">
                <a:solidFill>
                  <a:srgbClr val="7AB8D4"/>
                </a:solidFill>
              </a:rPr>
              <a:t>  - name: DB_PORT</a:t>
            </a:r>
          </a:p>
        </p:txBody>
      </p:sp>
      <p:sp>
        <p:nvSpPr>
          <p:cNvPr id="27" name="TextBox 26"/>
          <p:cNvSpPr txBox="1"/>
          <p:nvPr/>
        </p:nvSpPr>
        <p:spPr>
          <a:xfrm>
            <a:off x="4645152" y="2066544"/>
            <a:ext cx="3931920" cy="201168"/>
          </a:xfrm>
          <a:prstGeom prst="rect">
            <a:avLst/>
          </a:prstGeom>
          <a:noFill/>
        </p:spPr>
        <p:txBody>
          <a:bodyPr wrap="square">
            <a:spAutoFit/>
          </a:bodyPr>
          <a:lstStyle/>
          <a:p>
            <a:pPr algn="l"/>
            <a:r>
              <a:rPr sz="800" b="0" i="0">
                <a:solidFill>
                  <a:srgbClr val="02C39A"/>
                </a:solidFill>
              </a:rPr>
              <a:t>    value: "3306"</a:t>
            </a:r>
          </a:p>
        </p:txBody>
      </p:sp>
      <p:sp>
        <p:nvSpPr>
          <p:cNvPr id="28" name="TextBox 27"/>
          <p:cNvSpPr txBox="1"/>
          <p:nvPr/>
        </p:nvSpPr>
        <p:spPr>
          <a:xfrm>
            <a:off x="4645152" y="2267712"/>
            <a:ext cx="3931920" cy="201168"/>
          </a:xfrm>
          <a:prstGeom prst="rect">
            <a:avLst/>
          </a:prstGeom>
          <a:noFill/>
        </p:spPr>
        <p:txBody>
          <a:bodyPr wrap="square">
            <a:spAutoFit/>
          </a:bodyPr>
          <a:lstStyle/>
          <a:p>
            <a:pPr algn="l"/>
            <a:r>
              <a:rPr sz="800" b="0" i="0">
                <a:solidFill>
                  <a:srgbClr val="7AB8D4"/>
                </a:solidFill>
              </a:rPr>
              <a:t>  - name: DB_NAME</a:t>
            </a:r>
          </a:p>
        </p:txBody>
      </p:sp>
      <p:sp>
        <p:nvSpPr>
          <p:cNvPr id="29" name="TextBox 28"/>
          <p:cNvSpPr txBox="1"/>
          <p:nvPr/>
        </p:nvSpPr>
        <p:spPr>
          <a:xfrm>
            <a:off x="4645152" y="2468880"/>
            <a:ext cx="3931920" cy="201168"/>
          </a:xfrm>
          <a:prstGeom prst="rect">
            <a:avLst/>
          </a:prstGeom>
          <a:noFill/>
        </p:spPr>
        <p:txBody>
          <a:bodyPr wrap="square">
            <a:spAutoFit/>
          </a:bodyPr>
          <a:lstStyle/>
          <a:p>
            <a:pPr algn="l"/>
            <a:r>
              <a:rPr sz="800" b="0" i="0">
                <a:solidFill>
                  <a:srgbClr val="7AB8D4"/>
                </a:solidFill>
              </a:rPr>
              <a:t>    valueFrom:</a:t>
            </a:r>
          </a:p>
        </p:txBody>
      </p:sp>
      <p:sp>
        <p:nvSpPr>
          <p:cNvPr id="30" name="TextBox 29"/>
          <p:cNvSpPr txBox="1"/>
          <p:nvPr/>
        </p:nvSpPr>
        <p:spPr>
          <a:xfrm>
            <a:off x="4645152" y="2670048"/>
            <a:ext cx="3931920" cy="201168"/>
          </a:xfrm>
          <a:prstGeom prst="rect">
            <a:avLst/>
          </a:prstGeom>
          <a:noFill/>
        </p:spPr>
        <p:txBody>
          <a:bodyPr wrap="square">
            <a:spAutoFit/>
          </a:bodyPr>
          <a:lstStyle/>
          <a:p>
            <a:pPr algn="l"/>
            <a:r>
              <a:rPr sz="800" b="0" i="0">
                <a:solidFill>
                  <a:srgbClr val="7AB8D4"/>
                </a:solidFill>
              </a:rPr>
              <a:t>      secretKeyRef:</a:t>
            </a:r>
          </a:p>
        </p:txBody>
      </p:sp>
      <p:sp>
        <p:nvSpPr>
          <p:cNvPr id="31" name="TextBox 30"/>
          <p:cNvSpPr txBox="1"/>
          <p:nvPr/>
        </p:nvSpPr>
        <p:spPr>
          <a:xfrm>
            <a:off x="4645152" y="2871216"/>
            <a:ext cx="3931920" cy="201168"/>
          </a:xfrm>
          <a:prstGeom prst="rect">
            <a:avLst/>
          </a:prstGeom>
          <a:noFill/>
        </p:spPr>
        <p:txBody>
          <a:bodyPr wrap="square">
            <a:spAutoFit/>
          </a:bodyPr>
          <a:lstStyle/>
          <a:p>
            <a:pPr algn="l"/>
            <a:r>
              <a:rPr sz="800" b="0" i="0">
                <a:solidFill>
                  <a:srgbClr val="02C39A"/>
                </a:solidFill>
              </a:rPr>
              <a:t>        name: mysql-secret</a:t>
            </a:r>
          </a:p>
        </p:txBody>
      </p:sp>
      <p:sp>
        <p:nvSpPr>
          <p:cNvPr id="32" name="TextBox 31"/>
          <p:cNvSpPr txBox="1"/>
          <p:nvPr/>
        </p:nvSpPr>
        <p:spPr>
          <a:xfrm>
            <a:off x="4645152" y="3072384"/>
            <a:ext cx="3931920" cy="201168"/>
          </a:xfrm>
          <a:prstGeom prst="rect">
            <a:avLst/>
          </a:prstGeom>
          <a:noFill/>
        </p:spPr>
        <p:txBody>
          <a:bodyPr wrap="square">
            <a:spAutoFit/>
          </a:bodyPr>
          <a:lstStyle/>
          <a:p>
            <a:pPr algn="l"/>
            <a:r>
              <a:rPr sz="800" b="0" i="0">
                <a:solidFill>
                  <a:srgbClr val="02C39A"/>
                </a:solidFill>
              </a:rPr>
              <a:t>        key: MYSQL_DATABASE</a:t>
            </a:r>
          </a:p>
        </p:txBody>
      </p:sp>
      <p:sp>
        <p:nvSpPr>
          <p:cNvPr id="33" name="TextBox 32"/>
          <p:cNvSpPr txBox="1"/>
          <p:nvPr/>
        </p:nvSpPr>
        <p:spPr>
          <a:xfrm>
            <a:off x="4645152" y="3273552"/>
            <a:ext cx="3931920" cy="201168"/>
          </a:xfrm>
          <a:prstGeom prst="rect">
            <a:avLst/>
          </a:prstGeom>
          <a:noFill/>
        </p:spPr>
        <p:txBody>
          <a:bodyPr wrap="square">
            <a:spAutoFit/>
          </a:bodyPr>
          <a:lstStyle/>
          <a:p>
            <a:pPr algn="l"/>
            <a:r>
              <a:rPr sz="800" b="0" i="0">
                <a:solidFill>
                  <a:srgbClr val="7AB8D4"/>
                </a:solidFill>
              </a:rPr>
              <a:t>  - name: DB_PASSWORD</a:t>
            </a:r>
          </a:p>
        </p:txBody>
      </p:sp>
      <p:sp>
        <p:nvSpPr>
          <p:cNvPr id="34" name="TextBox 33"/>
          <p:cNvSpPr txBox="1"/>
          <p:nvPr/>
        </p:nvSpPr>
        <p:spPr>
          <a:xfrm>
            <a:off x="4645152" y="3474720"/>
            <a:ext cx="3931920" cy="201168"/>
          </a:xfrm>
          <a:prstGeom prst="rect">
            <a:avLst/>
          </a:prstGeom>
          <a:noFill/>
        </p:spPr>
        <p:txBody>
          <a:bodyPr wrap="square">
            <a:spAutoFit/>
          </a:bodyPr>
          <a:lstStyle/>
          <a:p>
            <a:pPr algn="l"/>
            <a:r>
              <a:rPr sz="800" b="0" i="0">
                <a:solidFill>
                  <a:srgbClr val="7AB8D4"/>
                </a:solidFill>
              </a:rPr>
              <a:t>    valueFrom:  # secretKeyRef</a:t>
            </a:r>
          </a:p>
        </p:txBody>
      </p:sp>
      <p:sp>
        <p:nvSpPr>
          <p:cNvPr id="35" name="TextBox 34"/>
          <p:cNvSpPr txBox="1"/>
          <p:nvPr/>
        </p:nvSpPr>
        <p:spPr>
          <a:xfrm>
            <a:off x="4645152" y="3675888"/>
            <a:ext cx="3931920" cy="201168"/>
          </a:xfrm>
          <a:prstGeom prst="rect">
            <a:avLst/>
          </a:prstGeom>
          <a:noFill/>
        </p:spPr>
        <p:txBody>
          <a:bodyPr wrap="square">
            <a:spAutoFit/>
          </a:bodyPr>
          <a:lstStyle/>
          <a:p>
            <a:pPr algn="l"/>
            <a:r>
              <a:rPr sz="800" b="0" i="0">
                <a:solidFill>
                  <a:srgbClr val="02C39A"/>
                </a:solidFill>
              </a:rPr>
              <a:t>        key: MYSQL_ROOT_PASSWORD</a:t>
            </a:r>
          </a:p>
        </p:txBody>
      </p:sp>
      <p:sp>
        <p:nvSpPr>
          <p:cNvPr id="36" name="TextBox 35"/>
          <p:cNvSpPr txBox="1"/>
          <p:nvPr/>
        </p:nvSpPr>
        <p:spPr>
          <a:xfrm>
            <a:off x="4645152" y="3877056"/>
            <a:ext cx="3931920" cy="201168"/>
          </a:xfrm>
          <a:prstGeom prst="rect">
            <a:avLst/>
          </a:prstGeom>
          <a:noFill/>
        </p:spPr>
        <p:txBody>
          <a:bodyPr wrap="square">
            <a:spAutoFit/>
          </a:bodyPr>
          <a:lstStyle/>
          <a:p>
            <a:pPr algn="l"/>
            <a:r>
              <a:rPr sz="800" b="0" i="0">
                <a:solidFill>
                  <a:srgbClr val="7AB8D4"/>
                </a:solidFill>
              </a:rPr>
              <a:t>  - name: SERVER_PORT</a:t>
            </a:r>
          </a:p>
        </p:txBody>
      </p:sp>
      <p:sp>
        <p:nvSpPr>
          <p:cNvPr id="37" name="TextBox 36"/>
          <p:cNvSpPr txBox="1"/>
          <p:nvPr/>
        </p:nvSpPr>
        <p:spPr>
          <a:xfrm>
            <a:off x="4645152" y="4078224"/>
            <a:ext cx="3931920" cy="201168"/>
          </a:xfrm>
          <a:prstGeom prst="rect">
            <a:avLst/>
          </a:prstGeom>
          <a:noFill/>
        </p:spPr>
        <p:txBody>
          <a:bodyPr wrap="square">
            <a:spAutoFit/>
          </a:bodyPr>
          <a:lstStyle/>
          <a:p>
            <a:pPr algn="l"/>
            <a:r>
              <a:rPr sz="800" b="0" i="0">
                <a:solidFill>
                  <a:srgbClr val="02C39A"/>
                </a:solidFill>
              </a:rPr>
              <a:t>    value: "8080"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74980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8412480" cy="365760"/>
          </a:xfrm>
          <a:prstGeom prst="rect">
            <a:avLst/>
          </a:prstGeom>
          <a:noFill/>
        </p:spPr>
        <p:txBody>
          <a:bodyPr wrap="square">
            <a:spAutoFit/>
          </a:bodyPr>
          <a:lstStyle/>
          <a:p>
            <a:pPr algn="l"/>
            <a:r>
              <a:rPr sz="2100" b="1" i="0">
                <a:solidFill>
                  <a:srgbClr val="FFFFFF"/>
                </a:solidFill>
              </a:rPr>
              <a:t>Pipeline CI/CD — cd-eks.yml  (IE9)</a:t>
            </a:r>
          </a:p>
        </p:txBody>
      </p:sp>
      <p:sp>
        <p:nvSpPr>
          <p:cNvPr id="4" name="TextBox 3"/>
          <p:cNvSpPr txBox="1"/>
          <p:nvPr/>
        </p:nvSpPr>
        <p:spPr>
          <a:xfrm>
            <a:off x="365760" y="457200"/>
            <a:ext cx="8412480" cy="256032"/>
          </a:xfrm>
          <a:prstGeom prst="rect">
            <a:avLst/>
          </a:prstGeom>
          <a:noFill/>
        </p:spPr>
        <p:txBody>
          <a:bodyPr wrap="square">
            <a:spAutoFit/>
          </a:bodyPr>
          <a:lstStyle/>
          <a:p>
            <a:pPr algn="l"/>
            <a:r>
              <a:rPr sz="1100" b="0" i="0">
                <a:solidFill>
                  <a:srgbClr val="7AB8D4"/>
                </a:solidFill>
              </a:rPr>
              <a:t>push a 'deploy' → build + push + deploy completo  |  Tiempo total: ~8-12 min</a:t>
            </a:r>
          </a:p>
        </p:txBody>
      </p:sp>
      <p:sp>
        <p:nvSpPr>
          <p:cNvPr id="5" name="Rectangle 4"/>
          <p:cNvSpPr/>
          <p:nvPr/>
        </p:nvSpPr>
        <p:spPr>
          <a:xfrm>
            <a:off x="274320" y="822960"/>
            <a:ext cx="4160520" cy="374904"/>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9184" y="905256"/>
            <a:ext cx="320040" cy="219456"/>
          </a:xfrm>
          <a:prstGeom prst="rect">
            <a:avLst/>
          </a:prstGeom>
          <a:noFill/>
        </p:spPr>
        <p:txBody>
          <a:bodyPr wrap="square">
            <a:spAutoFit/>
          </a:bodyPr>
          <a:lstStyle/>
          <a:p>
            <a:pPr algn="ctr"/>
            <a:r>
              <a:rPr sz="900" b="1" i="0">
                <a:solidFill>
                  <a:srgbClr val="FFFFFF"/>
                </a:solidFill>
              </a:rPr>
              <a:t>1</a:t>
            </a:r>
          </a:p>
        </p:txBody>
      </p:sp>
      <p:sp>
        <p:nvSpPr>
          <p:cNvPr id="7" name="TextBox 6"/>
          <p:cNvSpPr txBox="1"/>
          <p:nvPr/>
        </p:nvSpPr>
        <p:spPr>
          <a:xfrm>
            <a:off x="685800" y="914400"/>
            <a:ext cx="2926080" cy="219456"/>
          </a:xfrm>
          <a:prstGeom prst="rect">
            <a:avLst/>
          </a:prstGeom>
          <a:noFill/>
        </p:spPr>
        <p:txBody>
          <a:bodyPr wrap="square">
            <a:spAutoFit/>
          </a:bodyPr>
          <a:lstStyle/>
          <a:p>
            <a:pPr algn="l"/>
            <a:r>
              <a:rPr sz="900" b="0" i="0">
                <a:solidFill>
                  <a:srgbClr val="FFFFFF"/>
                </a:solidFill>
              </a:rPr>
              <a:t>Checkout + configurar AWS credentials</a:t>
            </a:r>
          </a:p>
        </p:txBody>
      </p:sp>
      <p:sp>
        <p:nvSpPr>
          <p:cNvPr id="8" name="TextBox 7"/>
          <p:cNvSpPr txBox="1"/>
          <p:nvPr/>
        </p:nvSpPr>
        <p:spPr>
          <a:xfrm>
            <a:off x="3657600" y="914400"/>
            <a:ext cx="731520" cy="219456"/>
          </a:xfrm>
          <a:prstGeom prst="rect">
            <a:avLst/>
          </a:prstGeom>
          <a:noFill/>
        </p:spPr>
        <p:txBody>
          <a:bodyPr wrap="square">
            <a:spAutoFit/>
          </a:bodyPr>
          <a:lstStyle/>
          <a:p>
            <a:pPr algn="r"/>
            <a:r>
              <a:rPr sz="850" b="0" i="0">
                <a:solidFill>
                  <a:srgbClr val="CCFFCC"/>
                </a:solidFill>
              </a:rPr>
              <a:t>~10s</a:t>
            </a:r>
          </a:p>
        </p:txBody>
      </p:sp>
      <p:sp>
        <p:nvSpPr>
          <p:cNvPr id="9" name="Rectangle 8"/>
          <p:cNvSpPr/>
          <p:nvPr/>
        </p:nvSpPr>
        <p:spPr>
          <a:xfrm>
            <a:off x="274320" y="1234440"/>
            <a:ext cx="4160520" cy="374904"/>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 y="1316736"/>
            <a:ext cx="320040" cy="219456"/>
          </a:xfrm>
          <a:prstGeom prst="rect">
            <a:avLst/>
          </a:prstGeom>
          <a:noFill/>
        </p:spPr>
        <p:txBody>
          <a:bodyPr wrap="square">
            <a:spAutoFit/>
          </a:bodyPr>
          <a:lstStyle/>
          <a:p>
            <a:pPr algn="ctr"/>
            <a:r>
              <a:rPr sz="900" b="1" i="0">
                <a:solidFill>
                  <a:srgbClr val="FFFFFF"/>
                </a:solidFill>
              </a:rPr>
              <a:t>2</a:t>
            </a:r>
          </a:p>
        </p:txBody>
      </p:sp>
      <p:sp>
        <p:nvSpPr>
          <p:cNvPr id="11" name="TextBox 10"/>
          <p:cNvSpPr txBox="1"/>
          <p:nvPr/>
        </p:nvSpPr>
        <p:spPr>
          <a:xfrm>
            <a:off x="685800" y="1325880"/>
            <a:ext cx="2926080" cy="219456"/>
          </a:xfrm>
          <a:prstGeom prst="rect">
            <a:avLst/>
          </a:prstGeom>
          <a:noFill/>
        </p:spPr>
        <p:txBody>
          <a:bodyPr wrap="square">
            <a:spAutoFit/>
          </a:bodyPr>
          <a:lstStyle/>
          <a:p>
            <a:pPr algn="l"/>
            <a:r>
              <a:rPr sz="900" b="0" i="0">
                <a:solidFill>
                  <a:srgbClr val="FFFFFF"/>
                </a:solidFill>
              </a:rPr>
              <a:t>ECR Login  (aws-actions/amazon-ecr-login)</a:t>
            </a:r>
          </a:p>
        </p:txBody>
      </p:sp>
      <p:sp>
        <p:nvSpPr>
          <p:cNvPr id="12" name="TextBox 11"/>
          <p:cNvSpPr txBox="1"/>
          <p:nvPr/>
        </p:nvSpPr>
        <p:spPr>
          <a:xfrm>
            <a:off x="3657600" y="1325880"/>
            <a:ext cx="731520" cy="219456"/>
          </a:xfrm>
          <a:prstGeom prst="rect">
            <a:avLst/>
          </a:prstGeom>
          <a:noFill/>
        </p:spPr>
        <p:txBody>
          <a:bodyPr wrap="square">
            <a:spAutoFit/>
          </a:bodyPr>
          <a:lstStyle/>
          <a:p>
            <a:pPr algn="r"/>
            <a:r>
              <a:rPr sz="850" b="0" i="0">
                <a:solidFill>
                  <a:srgbClr val="CCFFCC"/>
                </a:solidFill>
              </a:rPr>
              <a:t>~5s</a:t>
            </a:r>
          </a:p>
        </p:txBody>
      </p:sp>
      <p:sp>
        <p:nvSpPr>
          <p:cNvPr id="13" name="Rectangle 12"/>
          <p:cNvSpPr/>
          <p:nvPr/>
        </p:nvSpPr>
        <p:spPr>
          <a:xfrm>
            <a:off x="274320" y="1645920"/>
            <a:ext cx="4160520" cy="374904"/>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184" y="1728216"/>
            <a:ext cx="320040" cy="219456"/>
          </a:xfrm>
          <a:prstGeom prst="rect">
            <a:avLst/>
          </a:prstGeom>
          <a:noFill/>
        </p:spPr>
        <p:txBody>
          <a:bodyPr wrap="square">
            <a:spAutoFit/>
          </a:bodyPr>
          <a:lstStyle/>
          <a:p>
            <a:pPr algn="ctr"/>
            <a:r>
              <a:rPr sz="900" b="1" i="0">
                <a:solidFill>
                  <a:srgbClr val="FFFFFF"/>
                </a:solidFill>
              </a:rPr>
              <a:t>3</a:t>
            </a:r>
          </a:p>
        </p:txBody>
      </p:sp>
      <p:sp>
        <p:nvSpPr>
          <p:cNvPr id="15" name="TextBox 14"/>
          <p:cNvSpPr txBox="1"/>
          <p:nvPr/>
        </p:nvSpPr>
        <p:spPr>
          <a:xfrm>
            <a:off x="685800" y="1737360"/>
            <a:ext cx="2926080" cy="219456"/>
          </a:xfrm>
          <a:prstGeom prst="rect">
            <a:avLst/>
          </a:prstGeom>
          <a:noFill/>
        </p:spPr>
        <p:txBody>
          <a:bodyPr wrap="square">
            <a:spAutoFit/>
          </a:bodyPr>
          <a:lstStyle/>
          <a:p>
            <a:pPr algn="l"/>
            <a:r>
              <a:rPr sz="900" b="0" i="0">
                <a:solidFill>
                  <a:srgbClr val="FFFFFF"/>
                </a:solidFill>
              </a:rPr>
              <a:t>Build &amp; Push imágenes x3 (ventas, despachos, frontend)</a:t>
            </a:r>
          </a:p>
        </p:txBody>
      </p:sp>
      <p:sp>
        <p:nvSpPr>
          <p:cNvPr id="16" name="TextBox 15"/>
          <p:cNvSpPr txBox="1"/>
          <p:nvPr/>
        </p:nvSpPr>
        <p:spPr>
          <a:xfrm>
            <a:off x="3657600" y="1737360"/>
            <a:ext cx="731520" cy="219456"/>
          </a:xfrm>
          <a:prstGeom prst="rect">
            <a:avLst/>
          </a:prstGeom>
          <a:noFill/>
        </p:spPr>
        <p:txBody>
          <a:bodyPr wrap="square">
            <a:spAutoFit/>
          </a:bodyPr>
          <a:lstStyle/>
          <a:p>
            <a:pPr algn="r"/>
            <a:r>
              <a:rPr sz="850" b="0" i="0">
                <a:solidFill>
                  <a:srgbClr val="CCFFCC"/>
                </a:solidFill>
              </a:rPr>
              <a:t>~4-6 min</a:t>
            </a:r>
          </a:p>
        </p:txBody>
      </p:sp>
      <p:sp>
        <p:nvSpPr>
          <p:cNvPr id="17" name="Rectangle 16"/>
          <p:cNvSpPr/>
          <p:nvPr/>
        </p:nvSpPr>
        <p:spPr>
          <a:xfrm>
            <a:off x="274320" y="2057400"/>
            <a:ext cx="4160520" cy="374904"/>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 y="2139696"/>
            <a:ext cx="320040" cy="219456"/>
          </a:xfrm>
          <a:prstGeom prst="rect">
            <a:avLst/>
          </a:prstGeom>
          <a:noFill/>
        </p:spPr>
        <p:txBody>
          <a:bodyPr wrap="square">
            <a:spAutoFit/>
          </a:bodyPr>
          <a:lstStyle/>
          <a:p>
            <a:pPr algn="ctr"/>
            <a:r>
              <a:rPr sz="900" b="1" i="0">
                <a:solidFill>
                  <a:srgbClr val="FFFFFF"/>
                </a:solidFill>
              </a:rPr>
              <a:t>4</a:t>
            </a:r>
          </a:p>
        </p:txBody>
      </p:sp>
      <p:sp>
        <p:nvSpPr>
          <p:cNvPr id="19" name="TextBox 18"/>
          <p:cNvSpPr txBox="1"/>
          <p:nvPr/>
        </p:nvSpPr>
        <p:spPr>
          <a:xfrm>
            <a:off x="685800" y="2148840"/>
            <a:ext cx="2926080" cy="219456"/>
          </a:xfrm>
          <a:prstGeom prst="rect">
            <a:avLst/>
          </a:prstGeom>
          <a:noFill/>
        </p:spPr>
        <p:txBody>
          <a:bodyPr wrap="square">
            <a:spAutoFit/>
          </a:bodyPr>
          <a:lstStyle/>
          <a:p>
            <a:pPr algn="l"/>
            <a:r>
              <a:rPr sz="900" b="0" i="0">
                <a:solidFill>
                  <a:srgbClr val="FFFFFF"/>
                </a:solidFill>
              </a:rPr>
              <a:t>Instalar kubectl + conectar al cluster EKS</a:t>
            </a:r>
          </a:p>
        </p:txBody>
      </p:sp>
      <p:sp>
        <p:nvSpPr>
          <p:cNvPr id="20" name="TextBox 19"/>
          <p:cNvSpPr txBox="1"/>
          <p:nvPr/>
        </p:nvSpPr>
        <p:spPr>
          <a:xfrm>
            <a:off x="3657600" y="2148840"/>
            <a:ext cx="731520" cy="219456"/>
          </a:xfrm>
          <a:prstGeom prst="rect">
            <a:avLst/>
          </a:prstGeom>
          <a:noFill/>
        </p:spPr>
        <p:txBody>
          <a:bodyPr wrap="square">
            <a:spAutoFit/>
          </a:bodyPr>
          <a:lstStyle/>
          <a:p>
            <a:pPr algn="r"/>
            <a:r>
              <a:rPr sz="850" b="0" i="0">
                <a:solidFill>
                  <a:srgbClr val="CCFFCC"/>
                </a:solidFill>
              </a:rPr>
              <a:t>~30s</a:t>
            </a:r>
          </a:p>
        </p:txBody>
      </p:sp>
      <p:sp>
        <p:nvSpPr>
          <p:cNvPr id="21" name="Rectangle 20"/>
          <p:cNvSpPr/>
          <p:nvPr/>
        </p:nvSpPr>
        <p:spPr>
          <a:xfrm>
            <a:off x="274320" y="2468880"/>
            <a:ext cx="4160520" cy="374904"/>
          </a:xfrm>
          <a:prstGeom prst="rect">
            <a:avLst/>
          </a:prstGeom>
          <a:solidFill>
            <a:srgbClr val="027A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 y="2551176"/>
            <a:ext cx="320040" cy="219456"/>
          </a:xfrm>
          <a:prstGeom prst="rect">
            <a:avLst/>
          </a:prstGeom>
          <a:noFill/>
        </p:spPr>
        <p:txBody>
          <a:bodyPr wrap="square">
            <a:spAutoFit/>
          </a:bodyPr>
          <a:lstStyle/>
          <a:p>
            <a:pPr algn="ctr"/>
            <a:r>
              <a:rPr sz="900" b="1" i="0">
                <a:solidFill>
                  <a:srgbClr val="FFFFFF"/>
                </a:solidFill>
              </a:rPr>
              <a:t>5</a:t>
            </a:r>
          </a:p>
        </p:txBody>
      </p:sp>
      <p:sp>
        <p:nvSpPr>
          <p:cNvPr id="23" name="TextBox 22"/>
          <p:cNvSpPr txBox="1"/>
          <p:nvPr/>
        </p:nvSpPr>
        <p:spPr>
          <a:xfrm>
            <a:off x="685800" y="2560320"/>
            <a:ext cx="2926080" cy="219456"/>
          </a:xfrm>
          <a:prstGeom prst="rect">
            <a:avLst/>
          </a:prstGeom>
          <a:noFill/>
        </p:spPr>
        <p:txBody>
          <a:bodyPr wrap="square">
            <a:spAutoFit/>
          </a:bodyPr>
          <a:lstStyle/>
          <a:p>
            <a:pPr algn="l"/>
            <a:r>
              <a:rPr sz="900" b="0" i="0">
                <a:solidFill>
                  <a:srgbClr val="FFFFFF"/>
                </a:solidFill>
              </a:rPr>
              <a:t>metrics-server (kubectl apply, idempotente)</a:t>
            </a:r>
          </a:p>
        </p:txBody>
      </p:sp>
      <p:sp>
        <p:nvSpPr>
          <p:cNvPr id="24" name="TextBox 23"/>
          <p:cNvSpPr txBox="1"/>
          <p:nvPr/>
        </p:nvSpPr>
        <p:spPr>
          <a:xfrm>
            <a:off x="3657600" y="2560320"/>
            <a:ext cx="731520" cy="219456"/>
          </a:xfrm>
          <a:prstGeom prst="rect">
            <a:avLst/>
          </a:prstGeom>
          <a:noFill/>
        </p:spPr>
        <p:txBody>
          <a:bodyPr wrap="square">
            <a:spAutoFit/>
          </a:bodyPr>
          <a:lstStyle/>
          <a:p>
            <a:pPr algn="r"/>
            <a:r>
              <a:rPr sz="850" b="0" i="0">
                <a:solidFill>
                  <a:srgbClr val="CCFFCC"/>
                </a:solidFill>
              </a:rPr>
              <a:t>~15s</a:t>
            </a:r>
          </a:p>
        </p:txBody>
      </p:sp>
      <p:sp>
        <p:nvSpPr>
          <p:cNvPr id="25" name="Rectangle 24"/>
          <p:cNvSpPr/>
          <p:nvPr/>
        </p:nvSpPr>
        <p:spPr>
          <a:xfrm>
            <a:off x="4709160" y="822960"/>
            <a:ext cx="4160520" cy="374904"/>
          </a:xfrm>
          <a:prstGeom prst="rect">
            <a:avLst/>
          </a:prstGeom>
          <a:solidFill>
            <a:srgbClr val="027A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64024" y="905256"/>
            <a:ext cx="320040" cy="219456"/>
          </a:xfrm>
          <a:prstGeom prst="rect">
            <a:avLst/>
          </a:prstGeom>
          <a:noFill/>
        </p:spPr>
        <p:txBody>
          <a:bodyPr wrap="square">
            <a:spAutoFit/>
          </a:bodyPr>
          <a:lstStyle/>
          <a:p>
            <a:pPr algn="ctr"/>
            <a:r>
              <a:rPr sz="900" b="1" i="0">
                <a:solidFill>
                  <a:srgbClr val="FFFFFF"/>
                </a:solidFill>
              </a:rPr>
              <a:t>6</a:t>
            </a:r>
          </a:p>
        </p:txBody>
      </p:sp>
      <p:sp>
        <p:nvSpPr>
          <p:cNvPr id="27" name="TextBox 26"/>
          <p:cNvSpPr txBox="1"/>
          <p:nvPr/>
        </p:nvSpPr>
        <p:spPr>
          <a:xfrm>
            <a:off x="5120640" y="914400"/>
            <a:ext cx="2926080" cy="219456"/>
          </a:xfrm>
          <a:prstGeom prst="rect">
            <a:avLst/>
          </a:prstGeom>
          <a:noFill/>
        </p:spPr>
        <p:txBody>
          <a:bodyPr wrap="square">
            <a:spAutoFit/>
          </a:bodyPr>
          <a:lstStyle/>
          <a:p>
            <a:pPr algn="l"/>
            <a:r>
              <a:rPr sz="900" b="0" i="0">
                <a:solidFill>
                  <a:srgbClr val="FFFFFF"/>
                </a:solidFill>
              </a:rPr>
              <a:t>Crear/refrescar mysql-secret + ecr-secret</a:t>
            </a:r>
          </a:p>
        </p:txBody>
      </p:sp>
      <p:sp>
        <p:nvSpPr>
          <p:cNvPr id="28" name="TextBox 27"/>
          <p:cNvSpPr txBox="1"/>
          <p:nvPr/>
        </p:nvSpPr>
        <p:spPr>
          <a:xfrm>
            <a:off x="8092440" y="914400"/>
            <a:ext cx="731520" cy="219456"/>
          </a:xfrm>
          <a:prstGeom prst="rect">
            <a:avLst/>
          </a:prstGeom>
          <a:noFill/>
        </p:spPr>
        <p:txBody>
          <a:bodyPr wrap="square">
            <a:spAutoFit/>
          </a:bodyPr>
          <a:lstStyle/>
          <a:p>
            <a:pPr algn="r"/>
            <a:r>
              <a:rPr sz="850" b="0" i="0">
                <a:solidFill>
                  <a:srgbClr val="CCFFCC"/>
                </a:solidFill>
              </a:rPr>
              <a:t>~10s</a:t>
            </a:r>
          </a:p>
        </p:txBody>
      </p:sp>
      <p:sp>
        <p:nvSpPr>
          <p:cNvPr id="29" name="Rectangle 28"/>
          <p:cNvSpPr/>
          <p:nvPr/>
        </p:nvSpPr>
        <p:spPr>
          <a:xfrm>
            <a:off x="4709160" y="1234440"/>
            <a:ext cx="4160520" cy="374904"/>
          </a:xfrm>
          <a:prstGeom prst="rect">
            <a:avLst/>
          </a:prstGeom>
          <a:solidFill>
            <a:srgbClr val="027A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64024" y="1316736"/>
            <a:ext cx="320040" cy="219456"/>
          </a:xfrm>
          <a:prstGeom prst="rect">
            <a:avLst/>
          </a:prstGeom>
          <a:noFill/>
        </p:spPr>
        <p:txBody>
          <a:bodyPr wrap="square">
            <a:spAutoFit/>
          </a:bodyPr>
          <a:lstStyle/>
          <a:p>
            <a:pPr algn="ctr"/>
            <a:r>
              <a:rPr sz="900" b="1" i="0">
                <a:solidFill>
                  <a:srgbClr val="FFFFFF"/>
                </a:solidFill>
              </a:rPr>
              <a:t>7</a:t>
            </a:r>
          </a:p>
        </p:txBody>
      </p:sp>
      <p:sp>
        <p:nvSpPr>
          <p:cNvPr id="31" name="TextBox 30"/>
          <p:cNvSpPr txBox="1"/>
          <p:nvPr/>
        </p:nvSpPr>
        <p:spPr>
          <a:xfrm>
            <a:off x="5120640" y="1325880"/>
            <a:ext cx="2926080" cy="219456"/>
          </a:xfrm>
          <a:prstGeom prst="rect">
            <a:avLst/>
          </a:prstGeom>
          <a:noFill/>
        </p:spPr>
        <p:txBody>
          <a:bodyPr wrap="square">
            <a:spAutoFit/>
          </a:bodyPr>
          <a:lstStyle/>
          <a:p>
            <a:pPr algn="l"/>
            <a:r>
              <a:rPr sz="900" b="0" i="0">
                <a:solidFill>
                  <a:srgbClr val="FFFFFF"/>
                </a:solidFill>
              </a:rPr>
              <a:t>kubectl apply 5 manifiestos (sed → imagen real ECR)</a:t>
            </a:r>
          </a:p>
        </p:txBody>
      </p:sp>
      <p:sp>
        <p:nvSpPr>
          <p:cNvPr id="32" name="TextBox 31"/>
          <p:cNvSpPr txBox="1"/>
          <p:nvPr/>
        </p:nvSpPr>
        <p:spPr>
          <a:xfrm>
            <a:off x="8092440" y="1325880"/>
            <a:ext cx="731520" cy="219456"/>
          </a:xfrm>
          <a:prstGeom prst="rect">
            <a:avLst/>
          </a:prstGeom>
          <a:noFill/>
        </p:spPr>
        <p:txBody>
          <a:bodyPr wrap="square">
            <a:spAutoFit/>
          </a:bodyPr>
          <a:lstStyle/>
          <a:p>
            <a:pPr algn="r"/>
            <a:r>
              <a:rPr sz="850" b="0" i="0">
                <a:solidFill>
                  <a:srgbClr val="CCFFCC"/>
                </a:solidFill>
              </a:rPr>
              <a:t>~20s</a:t>
            </a:r>
          </a:p>
        </p:txBody>
      </p:sp>
      <p:sp>
        <p:nvSpPr>
          <p:cNvPr id="33" name="Rectangle 32"/>
          <p:cNvSpPr/>
          <p:nvPr/>
        </p:nvSpPr>
        <p:spPr>
          <a:xfrm>
            <a:off x="4709160" y="1645920"/>
            <a:ext cx="4160520" cy="374904"/>
          </a:xfrm>
          <a:prstGeom prst="rect">
            <a:avLst/>
          </a:prstGeom>
          <a:solidFill>
            <a:srgbClr val="AA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64024" y="1728216"/>
            <a:ext cx="320040" cy="219456"/>
          </a:xfrm>
          <a:prstGeom prst="rect">
            <a:avLst/>
          </a:prstGeom>
          <a:noFill/>
        </p:spPr>
        <p:txBody>
          <a:bodyPr wrap="square">
            <a:spAutoFit/>
          </a:bodyPr>
          <a:lstStyle/>
          <a:p>
            <a:pPr algn="ctr"/>
            <a:r>
              <a:rPr sz="900" b="1" i="0">
                <a:solidFill>
                  <a:srgbClr val="FFFFFF"/>
                </a:solidFill>
              </a:rPr>
              <a:t>8</a:t>
            </a:r>
          </a:p>
        </p:txBody>
      </p:sp>
      <p:sp>
        <p:nvSpPr>
          <p:cNvPr id="35" name="TextBox 34"/>
          <p:cNvSpPr txBox="1"/>
          <p:nvPr/>
        </p:nvSpPr>
        <p:spPr>
          <a:xfrm>
            <a:off x="5120640" y="1737360"/>
            <a:ext cx="2926080" cy="219456"/>
          </a:xfrm>
          <a:prstGeom prst="rect">
            <a:avLst/>
          </a:prstGeom>
          <a:noFill/>
        </p:spPr>
        <p:txBody>
          <a:bodyPr wrap="square">
            <a:spAutoFit/>
          </a:bodyPr>
          <a:lstStyle/>
          <a:p>
            <a:pPr algn="l"/>
            <a:r>
              <a:rPr sz="900" b="0" i="0">
                <a:solidFill>
                  <a:srgbClr val="FFFFFF"/>
                </a:solidFill>
              </a:rPr>
              <a:t>rollout restart x4 deployments</a:t>
            </a:r>
          </a:p>
        </p:txBody>
      </p:sp>
      <p:sp>
        <p:nvSpPr>
          <p:cNvPr id="36" name="TextBox 35"/>
          <p:cNvSpPr txBox="1"/>
          <p:nvPr/>
        </p:nvSpPr>
        <p:spPr>
          <a:xfrm>
            <a:off x="8092440" y="1737360"/>
            <a:ext cx="731520" cy="219456"/>
          </a:xfrm>
          <a:prstGeom prst="rect">
            <a:avLst/>
          </a:prstGeom>
          <a:noFill/>
        </p:spPr>
        <p:txBody>
          <a:bodyPr wrap="square">
            <a:spAutoFit/>
          </a:bodyPr>
          <a:lstStyle/>
          <a:p>
            <a:pPr algn="r"/>
            <a:r>
              <a:rPr sz="850" b="0" i="0">
                <a:solidFill>
                  <a:srgbClr val="CCFFCC"/>
                </a:solidFill>
              </a:rPr>
              <a:t>~10s</a:t>
            </a:r>
          </a:p>
        </p:txBody>
      </p:sp>
      <p:sp>
        <p:nvSpPr>
          <p:cNvPr id="37" name="Rectangle 36"/>
          <p:cNvSpPr/>
          <p:nvPr/>
        </p:nvSpPr>
        <p:spPr>
          <a:xfrm>
            <a:off x="4709160" y="2057400"/>
            <a:ext cx="4160520" cy="374904"/>
          </a:xfrm>
          <a:prstGeom prst="rect">
            <a:avLst/>
          </a:prstGeom>
          <a:solidFill>
            <a:srgbClr val="AA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64024" y="2139696"/>
            <a:ext cx="320040" cy="219456"/>
          </a:xfrm>
          <a:prstGeom prst="rect">
            <a:avLst/>
          </a:prstGeom>
          <a:noFill/>
        </p:spPr>
        <p:txBody>
          <a:bodyPr wrap="square">
            <a:spAutoFit/>
          </a:bodyPr>
          <a:lstStyle/>
          <a:p>
            <a:pPr algn="ctr"/>
            <a:r>
              <a:rPr sz="900" b="1" i="0">
                <a:solidFill>
                  <a:srgbClr val="FFFFFF"/>
                </a:solidFill>
              </a:rPr>
              <a:t>9</a:t>
            </a:r>
          </a:p>
        </p:txBody>
      </p:sp>
      <p:sp>
        <p:nvSpPr>
          <p:cNvPr id="39" name="TextBox 38"/>
          <p:cNvSpPr txBox="1"/>
          <p:nvPr/>
        </p:nvSpPr>
        <p:spPr>
          <a:xfrm>
            <a:off x="5120640" y="2148840"/>
            <a:ext cx="2926080" cy="219456"/>
          </a:xfrm>
          <a:prstGeom prst="rect">
            <a:avLst/>
          </a:prstGeom>
          <a:noFill/>
        </p:spPr>
        <p:txBody>
          <a:bodyPr wrap="square">
            <a:spAutoFit/>
          </a:bodyPr>
          <a:lstStyle/>
          <a:p>
            <a:pPr algn="l"/>
            <a:r>
              <a:rPr sz="900" b="0" i="0">
                <a:solidFill>
                  <a:srgbClr val="FFFFFF"/>
                </a:solidFill>
              </a:rPr>
              <a:t>Esperar rollouts (--timeout=300s)</a:t>
            </a:r>
          </a:p>
        </p:txBody>
      </p:sp>
      <p:sp>
        <p:nvSpPr>
          <p:cNvPr id="40" name="TextBox 39"/>
          <p:cNvSpPr txBox="1"/>
          <p:nvPr/>
        </p:nvSpPr>
        <p:spPr>
          <a:xfrm>
            <a:off x="8092440" y="2148840"/>
            <a:ext cx="731520" cy="219456"/>
          </a:xfrm>
          <a:prstGeom prst="rect">
            <a:avLst/>
          </a:prstGeom>
          <a:noFill/>
        </p:spPr>
        <p:txBody>
          <a:bodyPr wrap="square">
            <a:spAutoFit/>
          </a:bodyPr>
          <a:lstStyle/>
          <a:p>
            <a:pPr algn="r"/>
            <a:r>
              <a:rPr sz="850" b="0" i="0">
                <a:solidFill>
                  <a:srgbClr val="CCFFCC"/>
                </a:solidFill>
              </a:rPr>
              <a:t>~3-5 min</a:t>
            </a:r>
          </a:p>
        </p:txBody>
      </p:sp>
      <p:sp>
        <p:nvSpPr>
          <p:cNvPr id="41" name="Rectangle 40"/>
          <p:cNvSpPr/>
          <p:nvPr/>
        </p:nvSpPr>
        <p:spPr>
          <a:xfrm>
            <a:off x="4709160" y="2468880"/>
            <a:ext cx="4160520" cy="374904"/>
          </a:xfrm>
          <a:prstGeom prst="rect">
            <a:avLst/>
          </a:prstGeom>
          <a:solidFill>
            <a:srgbClr val="782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64024" y="2551176"/>
            <a:ext cx="320040" cy="219456"/>
          </a:xfrm>
          <a:prstGeom prst="rect">
            <a:avLst/>
          </a:prstGeom>
          <a:noFill/>
        </p:spPr>
        <p:txBody>
          <a:bodyPr wrap="square">
            <a:spAutoFit/>
          </a:bodyPr>
          <a:lstStyle/>
          <a:p>
            <a:pPr algn="ctr"/>
            <a:r>
              <a:rPr sz="900" b="1" i="0">
                <a:solidFill>
                  <a:srgbClr val="FFFFFF"/>
                </a:solidFill>
              </a:rPr>
              <a:t>10</a:t>
            </a:r>
          </a:p>
        </p:txBody>
      </p:sp>
      <p:sp>
        <p:nvSpPr>
          <p:cNvPr id="43" name="TextBox 42"/>
          <p:cNvSpPr txBox="1"/>
          <p:nvPr/>
        </p:nvSpPr>
        <p:spPr>
          <a:xfrm>
            <a:off x="5120640" y="2560320"/>
            <a:ext cx="2926080" cy="219456"/>
          </a:xfrm>
          <a:prstGeom prst="rect">
            <a:avLst/>
          </a:prstGeom>
          <a:noFill/>
        </p:spPr>
        <p:txBody>
          <a:bodyPr wrap="square">
            <a:spAutoFit/>
          </a:bodyPr>
          <a:lstStyle/>
          <a:p>
            <a:pPr algn="l"/>
            <a:r>
              <a:rPr sz="900" b="0" i="0">
                <a:solidFill>
                  <a:srgbClr val="FFFFFF"/>
                </a:solidFill>
              </a:rPr>
              <a:t>Imprimir URL pública del frontend</a:t>
            </a:r>
          </a:p>
        </p:txBody>
      </p:sp>
      <p:sp>
        <p:nvSpPr>
          <p:cNvPr id="44" name="TextBox 43"/>
          <p:cNvSpPr txBox="1"/>
          <p:nvPr/>
        </p:nvSpPr>
        <p:spPr>
          <a:xfrm>
            <a:off x="8092440" y="2560320"/>
            <a:ext cx="731520" cy="219456"/>
          </a:xfrm>
          <a:prstGeom prst="rect">
            <a:avLst/>
          </a:prstGeom>
          <a:noFill/>
        </p:spPr>
        <p:txBody>
          <a:bodyPr wrap="square">
            <a:spAutoFit/>
          </a:bodyPr>
          <a:lstStyle/>
          <a:p>
            <a:pPr algn="r"/>
            <a:r>
              <a:rPr sz="850" b="0" i="0">
                <a:solidFill>
                  <a:srgbClr val="CCFFCC"/>
                </a:solidFill>
              </a:rPr>
              <a:t>~5s</a:t>
            </a:r>
          </a:p>
        </p:txBody>
      </p:sp>
      <p:sp>
        <p:nvSpPr>
          <p:cNvPr id="45" name="TextBox 44"/>
          <p:cNvSpPr txBox="1"/>
          <p:nvPr/>
        </p:nvSpPr>
        <p:spPr>
          <a:xfrm>
            <a:off x="4434840" y="2606040"/>
            <a:ext cx="320040" cy="411480"/>
          </a:xfrm>
          <a:prstGeom prst="rect">
            <a:avLst/>
          </a:prstGeom>
          <a:noFill/>
        </p:spPr>
        <p:txBody>
          <a:bodyPr wrap="square">
            <a:spAutoFit/>
          </a:bodyPr>
          <a:lstStyle/>
          <a:p>
            <a:pPr algn="ctr"/>
            <a:r>
              <a:rPr sz="1800" b="1" i="0">
                <a:solidFill>
                  <a:srgbClr val="5A7A94"/>
                </a:solidFill>
              </a:rPr>
              <a:t>⟶</a:t>
            </a:r>
          </a:p>
        </p:txBody>
      </p:sp>
      <p:sp>
        <p:nvSpPr>
          <p:cNvPr id="46" name="TextBox 45"/>
          <p:cNvSpPr txBox="1"/>
          <p:nvPr/>
        </p:nvSpPr>
        <p:spPr>
          <a:xfrm>
            <a:off x="274320" y="4736592"/>
            <a:ext cx="8595360" cy="292608"/>
          </a:xfrm>
          <a:prstGeom prst="rect">
            <a:avLst/>
          </a:prstGeom>
          <a:noFill/>
        </p:spPr>
        <p:txBody>
          <a:bodyPr wrap="square">
            <a:spAutoFit/>
          </a:bodyPr>
          <a:lstStyle/>
          <a:p>
            <a:pPr algn="l"/>
            <a:r>
              <a:rPr sz="1000" b="0" i="1">
                <a:solidFill>
                  <a:srgbClr val="5A7A94"/>
                </a:solidFill>
              </a:rPr>
              <a:t>GitHub Actions registra cada corrida: tiempos por paso, logs completos, y muestra rojo/verde inmediatamente si algo falla.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
            <a:ext cx="8412480" cy="475488"/>
          </a:xfrm>
          <a:prstGeom prst="rect">
            <a:avLst/>
          </a:prstGeom>
          <a:noFill/>
        </p:spPr>
        <p:txBody>
          <a:bodyPr wrap="square">
            <a:spAutoFit/>
          </a:bodyPr>
          <a:lstStyle/>
          <a:p>
            <a:pPr algn="l"/>
            <a:r>
              <a:rPr sz="2100" b="1" i="0">
                <a:solidFill>
                  <a:srgbClr val="FFFFFF"/>
                </a:solidFill>
              </a:rPr>
              <a:t>Autoscaling horizontal — HPA  (IE8 / IE9)</a:t>
            </a:r>
          </a:p>
        </p:txBody>
      </p:sp>
      <p:sp>
        <p:nvSpPr>
          <p:cNvPr id="4" name="Rectangle 3"/>
          <p:cNvSpPr/>
          <p:nvPr/>
        </p:nvSpPr>
        <p:spPr>
          <a:xfrm>
            <a:off x="274320" y="795528"/>
            <a:ext cx="3931920" cy="205740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68680"/>
            <a:ext cx="3566160" cy="256032"/>
          </a:xfrm>
          <a:prstGeom prst="rect">
            <a:avLst/>
          </a:prstGeom>
          <a:noFill/>
        </p:spPr>
        <p:txBody>
          <a:bodyPr wrap="square">
            <a:spAutoFit/>
          </a:bodyPr>
          <a:lstStyle/>
          <a:p>
            <a:pPr algn="l"/>
            <a:r>
              <a:rPr sz="1100" b="1" i="0">
                <a:solidFill>
                  <a:srgbClr val="065A82"/>
                </a:solidFill>
              </a:rPr>
              <a:t>Configuración HPA</a:t>
            </a:r>
          </a:p>
        </p:txBody>
      </p:sp>
      <p:sp>
        <p:nvSpPr>
          <p:cNvPr id="6" name="TextBox 5"/>
          <p:cNvSpPr txBox="1"/>
          <p:nvPr/>
        </p:nvSpPr>
        <p:spPr>
          <a:xfrm>
            <a:off x="457200" y="1188720"/>
            <a:ext cx="3566160" cy="237744"/>
          </a:xfrm>
          <a:prstGeom prst="rect">
            <a:avLst/>
          </a:prstGeom>
          <a:noFill/>
        </p:spPr>
        <p:txBody>
          <a:bodyPr wrap="square">
            <a:spAutoFit/>
          </a:bodyPr>
          <a:lstStyle/>
          <a:p>
            <a:pPr algn="l"/>
            <a:r>
              <a:rPr sz="1000" b="0" i="0">
                <a:solidFill>
                  <a:srgbClr val="1E2D40"/>
                </a:solidFill>
              </a:rPr>
              <a:t>• apiVersion:    autoscaling/v2</a:t>
            </a:r>
          </a:p>
        </p:txBody>
      </p:sp>
      <p:sp>
        <p:nvSpPr>
          <p:cNvPr id="7" name="TextBox 6"/>
          <p:cNvSpPr txBox="1"/>
          <p:nvPr/>
        </p:nvSpPr>
        <p:spPr>
          <a:xfrm>
            <a:off x="457200" y="1444752"/>
            <a:ext cx="3566160" cy="237744"/>
          </a:xfrm>
          <a:prstGeom prst="rect">
            <a:avLst/>
          </a:prstGeom>
          <a:noFill/>
        </p:spPr>
        <p:txBody>
          <a:bodyPr wrap="square">
            <a:spAutoFit/>
          </a:bodyPr>
          <a:lstStyle/>
          <a:p>
            <a:pPr algn="l"/>
            <a:r>
              <a:rPr sz="1000" b="0" i="0">
                <a:solidFill>
                  <a:srgbClr val="1E2D40"/>
                </a:solidFill>
              </a:rPr>
              <a:t>• minReplicas:   2</a:t>
            </a:r>
          </a:p>
        </p:txBody>
      </p:sp>
      <p:sp>
        <p:nvSpPr>
          <p:cNvPr id="8" name="TextBox 7"/>
          <p:cNvSpPr txBox="1"/>
          <p:nvPr/>
        </p:nvSpPr>
        <p:spPr>
          <a:xfrm>
            <a:off x="457200" y="1700784"/>
            <a:ext cx="3566160" cy="237744"/>
          </a:xfrm>
          <a:prstGeom prst="rect">
            <a:avLst/>
          </a:prstGeom>
          <a:noFill/>
        </p:spPr>
        <p:txBody>
          <a:bodyPr wrap="square">
            <a:spAutoFit/>
          </a:bodyPr>
          <a:lstStyle/>
          <a:p>
            <a:pPr algn="l"/>
            <a:r>
              <a:rPr sz="1000" b="0" i="0">
                <a:solidFill>
                  <a:srgbClr val="1E2D40"/>
                </a:solidFill>
              </a:rPr>
              <a:t>• maxReplicas:   5</a:t>
            </a:r>
          </a:p>
        </p:txBody>
      </p:sp>
      <p:sp>
        <p:nvSpPr>
          <p:cNvPr id="9" name="TextBox 8"/>
          <p:cNvSpPr txBox="1"/>
          <p:nvPr/>
        </p:nvSpPr>
        <p:spPr>
          <a:xfrm>
            <a:off x="457200" y="1956816"/>
            <a:ext cx="3566160" cy="237744"/>
          </a:xfrm>
          <a:prstGeom prst="rect">
            <a:avLst/>
          </a:prstGeom>
          <a:noFill/>
        </p:spPr>
        <p:txBody>
          <a:bodyPr wrap="square">
            <a:spAutoFit/>
          </a:bodyPr>
          <a:lstStyle/>
          <a:p>
            <a:pPr algn="l"/>
            <a:r>
              <a:rPr sz="1000" b="0" i="0">
                <a:solidFill>
                  <a:srgbClr val="1E2D40"/>
                </a:solidFill>
              </a:rPr>
              <a:t>• Métrica:         cpu (utilization)</a:t>
            </a:r>
          </a:p>
        </p:txBody>
      </p:sp>
      <p:sp>
        <p:nvSpPr>
          <p:cNvPr id="10" name="TextBox 9"/>
          <p:cNvSpPr txBox="1"/>
          <p:nvPr/>
        </p:nvSpPr>
        <p:spPr>
          <a:xfrm>
            <a:off x="457200" y="2212848"/>
            <a:ext cx="3566160" cy="237744"/>
          </a:xfrm>
          <a:prstGeom prst="rect">
            <a:avLst/>
          </a:prstGeom>
          <a:noFill/>
        </p:spPr>
        <p:txBody>
          <a:bodyPr wrap="square">
            <a:spAutoFit/>
          </a:bodyPr>
          <a:lstStyle/>
          <a:p>
            <a:pPr algn="l"/>
            <a:r>
              <a:rPr sz="1000" b="0" i="0">
                <a:solidFill>
                  <a:srgbClr val="1E2D40"/>
                </a:solidFill>
              </a:rPr>
              <a:t>• Umbral:          50 %  ← elegido igual que ECS</a:t>
            </a:r>
          </a:p>
        </p:txBody>
      </p:sp>
      <p:sp>
        <p:nvSpPr>
          <p:cNvPr id="11" name="TextBox 10"/>
          <p:cNvSpPr txBox="1"/>
          <p:nvPr/>
        </p:nvSpPr>
        <p:spPr>
          <a:xfrm>
            <a:off x="457200" y="2468880"/>
            <a:ext cx="3566160" cy="237744"/>
          </a:xfrm>
          <a:prstGeom prst="rect">
            <a:avLst/>
          </a:prstGeom>
          <a:noFill/>
        </p:spPr>
        <p:txBody>
          <a:bodyPr wrap="square">
            <a:spAutoFit/>
          </a:bodyPr>
          <a:lstStyle/>
          <a:p>
            <a:pPr algn="l"/>
            <a:r>
              <a:rPr sz="1000" b="0" i="0">
                <a:solidFill>
                  <a:srgbClr val="1E2D40"/>
                </a:solidFill>
              </a:rPr>
              <a:t>• Req:              metrics-server (instalado en pipeline)</a:t>
            </a:r>
          </a:p>
        </p:txBody>
      </p:sp>
      <p:sp>
        <p:nvSpPr>
          <p:cNvPr id="12" name="Rectangle 11"/>
          <p:cNvSpPr/>
          <p:nvPr/>
        </p:nvSpPr>
        <p:spPr>
          <a:xfrm>
            <a:off x="4343400" y="795528"/>
            <a:ext cx="4480560" cy="2057400"/>
          </a:xfrm>
          <a:prstGeom prst="rect">
            <a:avLst/>
          </a:prstGeom>
          <a:solidFill>
            <a:srgbClr val="FFFFFF"/>
          </a:solidFill>
          <a:ln w="9525">
            <a:solidFill>
              <a:srgbClr val="B3E5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868680"/>
            <a:ext cx="4114800" cy="256032"/>
          </a:xfrm>
          <a:prstGeom prst="rect">
            <a:avLst/>
          </a:prstGeom>
          <a:noFill/>
        </p:spPr>
        <p:txBody>
          <a:bodyPr wrap="square">
            <a:spAutoFit/>
          </a:bodyPr>
          <a:lstStyle/>
          <a:p>
            <a:pPr algn="l"/>
            <a:r>
              <a:rPr sz="1100" b="1" i="0">
                <a:solidFill>
                  <a:srgbClr val="02C39A"/>
                </a:solidFill>
              </a:rPr>
              <a:t>Demo en vivo — resultados</a:t>
            </a:r>
          </a:p>
        </p:txBody>
      </p:sp>
      <p:sp>
        <p:nvSpPr>
          <p:cNvPr id="14" name="TextBox 13"/>
          <p:cNvSpPr txBox="1"/>
          <p:nvPr/>
        </p:nvSpPr>
        <p:spPr>
          <a:xfrm>
            <a:off x="4663440" y="1051560"/>
            <a:ext cx="1691640" cy="749808"/>
          </a:xfrm>
          <a:prstGeom prst="rect">
            <a:avLst/>
          </a:prstGeom>
          <a:noFill/>
        </p:spPr>
        <p:txBody>
          <a:bodyPr wrap="square">
            <a:spAutoFit/>
          </a:bodyPr>
          <a:lstStyle/>
          <a:p>
            <a:pPr algn="ctr"/>
            <a:r>
              <a:rPr sz="5000" b="1" i="0">
                <a:solidFill>
                  <a:srgbClr val="E64A19"/>
                </a:solidFill>
              </a:rPr>
              <a:t>94%</a:t>
            </a:r>
          </a:p>
        </p:txBody>
      </p:sp>
      <p:sp>
        <p:nvSpPr>
          <p:cNvPr id="15" name="TextBox 14"/>
          <p:cNvSpPr txBox="1"/>
          <p:nvPr/>
        </p:nvSpPr>
        <p:spPr>
          <a:xfrm>
            <a:off x="4663440" y="1773936"/>
            <a:ext cx="1691640" cy="228600"/>
          </a:xfrm>
          <a:prstGeom prst="rect">
            <a:avLst/>
          </a:prstGeom>
          <a:noFill/>
        </p:spPr>
        <p:txBody>
          <a:bodyPr wrap="square">
            <a:spAutoFit/>
          </a:bodyPr>
          <a:lstStyle/>
          <a:p>
            <a:pPr algn="ctr"/>
            <a:r>
              <a:rPr sz="900" b="0" i="0">
                <a:solidFill>
                  <a:srgbClr val="5A7A94"/>
                </a:solidFill>
              </a:rPr>
              <a:t>CPU registrado</a:t>
            </a:r>
          </a:p>
        </p:txBody>
      </p:sp>
      <p:sp>
        <p:nvSpPr>
          <p:cNvPr id="16" name="TextBox 15"/>
          <p:cNvSpPr txBox="1"/>
          <p:nvPr/>
        </p:nvSpPr>
        <p:spPr>
          <a:xfrm>
            <a:off x="6382512" y="1234440"/>
            <a:ext cx="411480" cy="457200"/>
          </a:xfrm>
          <a:prstGeom prst="rect">
            <a:avLst/>
          </a:prstGeom>
          <a:noFill/>
        </p:spPr>
        <p:txBody>
          <a:bodyPr wrap="square">
            <a:spAutoFit/>
          </a:bodyPr>
          <a:lstStyle/>
          <a:p>
            <a:pPr algn="ctr"/>
            <a:r>
              <a:rPr sz="2000" b="1" i="0">
                <a:solidFill>
                  <a:srgbClr val="1C7293"/>
                </a:solidFill>
              </a:rPr>
              <a:t>→</a:t>
            </a:r>
          </a:p>
        </p:txBody>
      </p:sp>
      <p:sp>
        <p:nvSpPr>
          <p:cNvPr id="17" name="TextBox 16"/>
          <p:cNvSpPr txBox="1"/>
          <p:nvPr/>
        </p:nvSpPr>
        <p:spPr>
          <a:xfrm>
            <a:off x="6858000" y="1051560"/>
            <a:ext cx="1188720" cy="749808"/>
          </a:xfrm>
          <a:prstGeom prst="rect">
            <a:avLst/>
          </a:prstGeom>
          <a:noFill/>
        </p:spPr>
        <p:txBody>
          <a:bodyPr wrap="square">
            <a:spAutoFit/>
          </a:bodyPr>
          <a:lstStyle/>
          <a:p>
            <a:pPr algn="ctr"/>
            <a:r>
              <a:rPr sz="5000" b="1" i="0">
                <a:solidFill>
                  <a:srgbClr val="02C39A"/>
                </a:solidFill>
              </a:rPr>
              <a:t>4</a:t>
            </a:r>
          </a:p>
        </p:txBody>
      </p:sp>
      <p:sp>
        <p:nvSpPr>
          <p:cNvPr id="18" name="TextBox 17"/>
          <p:cNvSpPr txBox="1"/>
          <p:nvPr/>
        </p:nvSpPr>
        <p:spPr>
          <a:xfrm>
            <a:off x="6858000" y="1773936"/>
            <a:ext cx="1188720" cy="228600"/>
          </a:xfrm>
          <a:prstGeom prst="rect">
            <a:avLst/>
          </a:prstGeom>
          <a:noFill/>
        </p:spPr>
        <p:txBody>
          <a:bodyPr wrap="square">
            <a:spAutoFit/>
          </a:bodyPr>
          <a:lstStyle/>
          <a:p>
            <a:pPr algn="ctr"/>
            <a:r>
              <a:rPr sz="900" b="0" i="0">
                <a:solidFill>
                  <a:srgbClr val="5A7A94"/>
                </a:solidFill>
              </a:rPr>
              <a:t>réplicas</a:t>
            </a:r>
          </a:p>
        </p:txBody>
      </p:sp>
      <p:sp>
        <p:nvSpPr>
          <p:cNvPr id="19" name="Rectangle 18"/>
          <p:cNvSpPr/>
          <p:nvPr/>
        </p:nvSpPr>
        <p:spPr>
          <a:xfrm>
            <a:off x="274320" y="2999232"/>
            <a:ext cx="8595360" cy="1554480"/>
          </a:xfrm>
          <a:prstGeom prst="rect">
            <a:avLst/>
          </a:prstGeom>
          <a:solidFill>
            <a:srgbClr val="E8F4FB"/>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072384"/>
            <a:ext cx="8229600" cy="256032"/>
          </a:xfrm>
          <a:prstGeom prst="rect">
            <a:avLst/>
          </a:prstGeom>
          <a:noFill/>
        </p:spPr>
        <p:txBody>
          <a:bodyPr wrap="square">
            <a:spAutoFit/>
          </a:bodyPr>
          <a:lstStyle/>
          <a:p>
            <a:pPr algn="l"/>
            <a:r>
              <a:rPr sz="1100" b="1" i="0">
                <a:solidFill>
                  <a:srgbClr val="065A82"/>
                </a:solidFill>
              </a:rPr>
              <a:t>Flujo demostrado</a:t>
            </a:r>
          </a:p>
        </p:txBody>
      </p:sp>
      <p:sp>
        <p:nvSpPr>
          <p:cNvPr id="21" name="TextBox 20"/>
          <p:cNvSpPr txBox="1"/>
          <p:nvPr/>
        </p:nvSpPr>
        <p:spPr>
          <a:xfrm>
            <a:off x="457200" y="3383280"/>
            <a:ext cx="8229600" cy="219456"/>
          </a:xfrm>
          <a:prstGeom prst="rect">
            <a:avLst/>
          </a:prstGeom>
          <a:noFill/>
        </p:spPr>
        <p:txBody>
          <a:bodyPr wrap="square">
            <a:spAutoFit/>
          </a:bodyPr>
          <a:lstStyle/>
          <a:p>
            <a:pPr algn="l"/>
            <a:r>
              <a:rPr sz="1000" b="0" i="0">
                <a:solidFill>
                  <a:srgbClr val="1E2D40"/>
                </a:solidFill>
              </a:rPr>
              <a:t>1.  Bucle curl: 500 requests paralelos contra /api/v1/ventas</a:t>
            </a:r>
          </a:p>
        </p:txBody>
      </p:sp>
      <p:sp>
        <p:nvSpPr>
          <p:cNvPr id="22" name="TextBox 21"/>
          <p:cNvSpPr txBox="1"/>
          <p:nvPr/>
        </p:nvSpPr>
        <p:spPr>
          <a:xfrm>
            <a:off x="457200" y="3621024"/>
            <a:ext cx="8229600" cy="219456"/>
          </a:xfrm>
          <a:prstGeom prst="rect">
            <a:avLst/>
          </a:prstGeom>
          <a:noFill/>
        </p:spPr>
        <p:txBody>
          <a:bodyPr wrap="square">
            <a:spAutoFit/>
          </a:bodyPr>
          <a:lstStyle/>
          <a:p>
            <a:pPr algn="l"/>
            <a:r>
              <a:rPr sz="1000" b="0" i="0">
                <a:solidFill>
                  <a:srgbClr val="1E2D40"/>
                </a:solidFill>
              </a:rPr>
              <a:t>2.  CPU backend-ventas sube de 1% → 94%  (supera umbral 50%)</a:t>
            </a:r>
          </a:p>
        </p:txBody>
      </p:sp>
      <p:sp>
        <p:nvSpPr>
          <p:cNvPr id="23" name="TextBox 22"/>
          <p:cNvSpPr txBox="1"/>
          <p:nvPr/>
        </p:nvSpPr>
        <p:spPr>
          <a:xfrm>
            <a:off x="457200" y="3858768"/>
            <a:ext cx="8229600" cy="219456"/>
          </a:xfrm>
          <a:prstGeom prst="rect">
            <a:avLst/>
          </a:prstGeom>
          <a:noFill/>
        </p:spPr>
        <p:txBody>
          <a:bodyPr wrap="square">
            <a:spAutoFit/>
          </a:bodyPr>
          <a:lstStyle/>
          <a:p>
            <a:pPr algn="l"/>
            <a:r>
              <a:rPr sz="1000" b="0" i="0">
                <a:solidFill>
                  <a:srgbClr val="1E2D40"/>
                </a:solidFill>
              </a:rPr>
              <a:t>3.  HPA evalúa cada ~30 s  →  escala de 2 a 4 réplicas automáticamente</a:t>
            </a:r>
          </a:p>
        </p:txBody>
      </p:sp>
      <p:sp>
        <p:nvSpPr>
          <p:cNvPr id="24" name="TextBox 23"/>
          <p:cNvSpPr txBox="1"/>
          <p:nvPr/>
        </p:nvSpPr>
        <p:spPr>
          <a:xfrm>
            <a:off x="457200" y="4096511"/>
            <a:ext cx="8229600" cy="219456"/>
          </a:xfrm>
          <a:prstGeom prst="rect">
            <a:avLst/>
          </a:prstGeom>
          <a:noFill/>
        </p:spPr>
        <p:txBody>
          <a:bodyPr wrap="square">
            <a:spAutoFit/>
          </a:bodyPr>
          <a:lstStyle/>
          <a:p>
            <a:pPr algn="l"/>
            <a:r>
              <a:rPr sz="1000" b="0" i="0">
                <a:solidFill>
                  <a:srgbClr val="1E2D40"/>
                </a:solidFill>
              </a:rPr>
              <a:t>4.  Los 4 pods reparten carga  →  CPU baja a 1-3% de inmediato</a:t>
            </a:r>
          </a:p>
        </p:txBody>
      </p:sp>
      <p:sp>
        <p:nvSpPr>
          <p:cNvPr id="25" name="TextBox 24"/>
          <p:cNvSpPr txBox="1"/>
          <p:nvPr/>
        </p:nvSpPr>
        <p:spPr>
          <a:xfrm>
            <a:off x="457200" y="4334255"/>
            <a:ext cx="8229600" cy="219456"/>
          </a:xfrm>
          <a:prstGeom prst="rect">
            <a:avLst/>
          </a:prstGeom>
          <a:noFill/>
        </p:spPr>
        <p:txBody>
          <a:bodyPr wrap="square">
            <a:spAutoFit/>
          </a:bodyPr>
          <a:lstStyle/>
          <a:p>
            <a:pPr algn="l"/>
            <a:r>
              <a:rPr sz="1000" b="0" i="0">
                <a:solidFill>
                  <a:srgbClr val="1E2D40"/>
                </a:solidFill>
              </a:rPr>
              <a:t>5.  Tras ~5 min sin carga, HPA reduce a 2 réplicas (scale-down cooldown)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
            <a:ext cx="8412480" cy="475488"/>
          </a:xfrm>
          <a:prstGeom prst="rect">
            <a:avLst/>
          </a:prstGeom>
          <a:noFill/>
        </p:spPr>
        <p:txBody>
          <a:bodyPr wrap="square">
            <a:spAutoFit/>
          </a:bodyPr>
          <a:lstStyle/>
          <a:p>
            <a:pPr algn="l"/>
            <a:r>
              <a:rPr sz="2100" b="1" i="0">
                <a:solidFill>
                  <a:srgbClr val="FFFFFF"/>
                </a:solidFill>
              </a:rPr>
              <a:t>Auto-recuperación (Self-Healing) — tolerancia a fallos demostrada</a:t>
            </a:r>
          </a:p>
        </p:txBody>
      </p:sp>
      <p:sp>
        <p:nvSpPr>
          <p:cNvPr id="4" name="Rectangle 3"/>
          <p:cNvSpPr/>
          <p:nvPr/>
        </p:nvSpPr>
        <p:spPr>
          <a:xfrm>
            <a:off x="274320" y="804672"/>
            <a:ext cx="2651760" cy="2240280"/>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877824"/>
            <a:ext cx="2423160" cy="292608"/>
          </a:xfrm>
          <a:prstGeom prst="rect">
            <a:avLst/>
          </a:prstGeom>
          <a:noFill/>
        </p:spPr>
        <p:txBody>
          <a:bodyPr wrap="square">
            <a:spAutoFit/>
          </a:bodyPr>
          <a:lstStyle/>
          <a:p>
            <a:pPr algn="l"/>
            <a:r>
              <a:rPr sz="1300" b="1" i="0">
                <a:solidFill>
                  <a:srgbClr val="FFFFFF"/>
                </a:solidFill>
              </a:rPr>
              <a:t>ANTES</a:t>
            </a:r>
          </a:p>
        </p:txBody>
      </p:sp>
      <p:sp>
        <p:nvSpPr>
          <p:cNvPr id="6" name="TextBox 5"/>
          <p:cNvSpPr txBox="1"/>
          <p:nvPr/>
        </p:nvSpPr>
        <p:spPr>
          <a:xfrm>
            <a:off x="384048" y="1261872"/>
            <a:ext cx="2423160" cy="1691640"/>
          </a:xfrm>
          <a:prstGeom prst="rect">
            <a:avLst/>
          </a:prstGeom>
          <a:noFill/>
        </p:spPr>
        <p:txBody>
          <a:bodyPr wrap="square">
            <a:spAutoFit/>
          </a:bodyPr>
          <a:lstStyle/>
          <a:p>
            <a:pPr algn="l"/>
            <a:r>
              <a:rPr sz="1000" b="0" i="0">
                <a:solidFill>
                  <a:srgbClr val="CCEAFF"/>
                </a:solidFill>
              </a:rPr>
              <a:t>2 pods Running:
backend-ventas-*-gxclt  1/1
backend-ventas-*-jtvwh   1/1</a:t>
            </a:r>
          </a:p>
        </p:txBody>
      </p:sp>
      <p:sp>
        <p:nvSpPr>
          <p:cNvPr id="7" name="TextBox 6"/>
          <p:cNvSpPr txBox="1"/>
          <p:nvPr/>
        </p:nvSpPr>
        <p:spPr>
          <a:xfrm>
            <a:off x="2990088" y="1719072"/>
            <a:ext cx="256032" cy="402336"/>
          </a:xfrm>
          <a:prstGeom prst="rect">
            <a:avLst/>
          </a:prstGeom>
          <a:noFill/>
        </p:spPr>
        <p:txBody>
          <a:bodyPr wrap="square">
            <a:spAutoFit/>
          </a:bodyPr>
          <a:lstStyle/>
          <a:p>
            <a:pPr algn="l"/>
            <a:r>
              <a:rPr sz="1900" b="1" i="0">
                <a:solidFill>
                  <a:srgbClr val="1C7293"/>
                </a:solidFill>
              </a:rPr>
              <a:t>→</a:t>
            </a:r>
          </a:p>
        </p:txBody>
      </p:sp>
      <p:sp>
        <p:nvSpPr>
          <p:cNvPr id="8" name="Rectangle 7"/>
          <p:cNvSpPr/>
          <p:nvPr/>
        </p:nvSpPr>
        <p:spPr>
          <a:xfrm>
            <a:off x="3200400" y="804672"/>
            <a:ext cx="2651760" cy="2240280"/>
          </a:xfrm>
          <a:prstGeom prst="rect">
            <a:avLst/>
          </a:prstGeom>
          <a:solidFill>
            <a:srgbClr val="BF36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10128" y="877824"/>
            <a:ext cx="2423160" cy="292608"/>
          </a:xfrm>
          <a:prstGeom prst="rect">
            <a:avLst/>
          </a:prstGeom>
          <a:noFill/>
        </p:spPr>
        <p:txBody>
          <a:bodyPr wrap="square">
            <a:spAutoFit/>
          </a:bodyPr>
          <a:lstStyle/>
          <a:p>
            <a:pPr algn="l"/>
            <a:r>
              <a:rPr sz="1300" b="1" i="0">
                <a:solidFill>
                  <a:srgbClr val="FFFFFF"/>
                </a:solidFill>
              </a:rPr>
              <a:t>FALLO SIMULADO</a:t>
            </a:r>
          </a:p>
        </p:txBody>
      </p:sp>
      <p:sp>
        <p:nvSpPr>
          <p:cNvPr id="10" name="TextBox 9"/>
          <p:cNvSpPr txBox="1"/>
          <p:nvPr/>
        </p:nvSpPr>
        <p:spPr>
          <a:xfrm>
            <a:off x="3310128" y="1261872"/>
            <a:ext cx="2423160" cy="1691640"/>
          </a:xfrm>
          <a:prstGeom prst="rect">
            <a:avLst/>
          </a:prstGeom>
          <a:noFill/>
        </p:spPr>
        <p:txBody>
          <a:bodyPr wrap="square">
            <a:spAutoFit/>
          </a:bodyPr>
          <a:lstStyle/>
          <a:p>
            <a:pPr algn="l"/>
            <a:r>
              <a:rPr sz="1000" b="0" i="0">
                <a:solidFill>
                  <a:srgbClr val="CCEAFF"/>
                </a:solidFill>
              </a:rPr>
              <a:t>$ kubectl delete pod
  backend-ventas-*-gxclt
↓ pod eliminado forzado</a:t>
            </a:r>
          </a:p>
        </p:txBody>
      </p:sp>
      <p:sp>
        <p:nvSpPr>
          <p:cNvPr id="11" name="TextBox 10"/>
          <p:cNvSpPr txBox="1"/>
          <p:nvPr/>
        </p:nvSpPr>
        <p:spPr>
          <a:xfrm>
            <a:off x="5916168" y="1719072"/>
            <a:ext cx="256032" cy="402336"/>
          </a:xfrm>
          <a:prstGeom prst="rect">
            <a:avLst/>
          </a:prstGeom>
          <a:noFill/>
        </p:spPr>
        <p:txBody>
          <a:bodyPr wrap="square">
            <a:spAutoFit/>
          </a:bodyPr>
          <a:lstStyle/>
          <a:p>
            <a:pPr algn="l"/>
            <a:r>
              <a:rPr sz="1900" b="1" i="0">
                <a:solidFill>
                  <a:srgbClr val="1C7293"/>
                </a:solidFill>
              </a:rPr>
              <a:t>→</a:t>
            </a:r>
          </a:p>
        </p:txBody>
      </p:sp>
      <p:sp>
        <p:nvSpPr>
          <p:cNvPr id="12" name="Rectangle 11"/>
          <p:cNvSpPr/>
          <p:nvPr/>
        </p:nvSpPr>
        <p:spPr>
          <a:xfrm>
            <a:off x="6126480" y="804672"/>
            <a:ext cx="2651760" cy="2240280"/>
          </a:xfrm>
          <a:prstGeom prst="rect">
            <a:avLst/>
          </a:prstGeom>
          <a:solidFill>
            <a:srgbClr val="027A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6208" y="877824"/>
            <a:ext cx="2423160" cy="292608"/>
          </a:xfrm>
          <a:prstGeom prst="rect">
            <a:avLst/>
          </a:prstGeom>
          <a:noFill/>
        </p:spPr>
        <p:txBody>
          <a:bodyPr wrap="square">
            <a:spAutoFit/>
          </a:bodyPr>
          <a:lstStyle/>
          <a:p>
            <a:pPr algn="l"/>
            <a:r>
              <a:rPr sz="1300" b="1" i="0">
                <a:solidFill>
                  <a:srgbClr val="FFFFFF"/>
                </a:solidFill>
              </a:rPr>
              <a:t>AUTO-RECUPERACIÓN</a:t>
            </a:r>
          </a:p>
        </p:txBody>
      </p:sp>
      <p:sp>
        <p:nvSpPr>
          <p:cNvPr id="14" name="TextBox 13"/>
          <p:cNvSpPr txBox="1"/>
          <p:nvPr/>
        </p:nvSpPr>
        <p:spPr>
          <a:xfrm>
            <a:off x="6236208" y="1261872"/>
            <a:ext cx="2423160" cy="1691640"/>
          </a:xfrm>
          <a:prstGeom prst="rect">
            <a:avLst/>
          </a:prstGeom>
          <a:noFill/>
        </p:spPr>
        <p:txBody>
          <a:bodyPr wrap="square">
            <a:spAutoFit/>
          </a:bodyPr>
          <a:lstStyle/>
          <a:p>
            <a:pPr algn="l"/>
            <a:r>
              <a:rPr sz="1000" b="0" i="0">
                <a:solidFill>
                  <a:srgbClr val="CCFFEA"/>
                </a:solidFill>
              </a:rPr>
              <a:t>Nuevo pod en &lt;30 segundos
auto-creado por ReplicaSet
2 pods Running de nuevo ✓</a:t>
            </a:r>
          </a:p>
        </p:txBody>
      </p:sp>
      <p:sp>
        <p:nvSpPr>
          <p:cNvPr id="15" name="Rectangle 14"/>
          <p:cNvSpPr/>
          <p:nvPr/>
        </p:nvSpPr>
        <p:spPr>
          <a:xfrm>
            <a:off x="274320" y="3200400"/>
            <a:ext cx="8595360" cy="1645920"/>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73552"/>
            <a:ext cx="8229600" cy="256032"/>
          </a:xfrm>
          <a:prstGeom prst="rect">
            <a:avLst/>
          </a:prstGeom>
          <a:noFill/>
        </p:spPr>
        <p:txBody>
          <a:bodyPr wrap="square">
            <a:spAutoFit/>
          </a:bodyPr>
          <a:lstStyle/>
          <a:p>
            <a:pPr algn="l"/>
            <a:r>
              <a:rPr sz="1100" b="1" i="0">
                <a:solidFill>
                  <a:srgbClr val="065A82"/>
                </a:solidFill>
              </a:rPr>
              <a:t>Por qué Kubernetes lo hace automáticamente</a:t>
            </a:r>
          </a:p>
        </p:txBody>
      </p:sp>
      <p:sp>
        <p:nvSpPr>
          <p:cNvPr id="17" name="TextBox 16"/>
          <p:cNvSpPr txBox="1"/>
          <p:nvPr/>
        </p:nvSpPr>
        <p:spPr>
          <a:xfrm>
            <a:off x="457200" y="3593592"/>
            <a:ext cx="8229600" cy="237744"/>
          </a:xfrm>
          <a:prstGeom prst="rect">
            <a:avLst/>
          </a:prstGeom>
          <a:noFill/>
        </p:spPr>
        <p:txBody>
          <a:bodyPr wrap="square">
            <a:spAutoFit/>
          </a:bodyPr>
          <a:lstStyle/>
          <a:p>
            <a:pPr algn="l"/>
            <a:r>
              <a:rPr sz="1000" b="0" i="0">
                <a:solidFill>
                  <a:srgbClr val="1E2D40"/>
                </a:solidFill>
              </a:rPr>
              <a:t>• El Deployment declara replicas: 2 como estado DESEADO. El controller loop de k8s reconcilia constantemente real vs. deseado.</a:t>
            </a:r>
          </a:p>
        </p:txBody>
      </p:sp>
      <p:sp>
        <p:nvSpPr>
          <p:cNvPr id="18" name="TextBox 17"/>
          <p:cNvSpPr txBox="1"/>
          <p:nvPr/>
        </p:nvSpPr>
        <p:spPr>
          <a:xfrm>
            <a:off x="457200" y="3867912"/>
            <a:ext cx="8229600" cy="237744"/>
          </a:xfrm>
          <a:prstGeom prst="rect">
            <a:avLst/>
          </a:prstGeom>
          <a:noFill/>
        </p:spPr>
        <p:txBody>
          <a:bodyPr wrap="square">
            <a:spAutoFit/>
          </a:bodyPr>
          <a:lstStyle/>
          <a:p>
            <a:pPr algn="l"/>
            <a:r>
              <a:rPr sz="1000" b="0" i="0">
                <a:solidFill>
                  <a:srgbClr val="1E2D40"/>
                </a:solidFill>
              </a:rPr>
              <a:t>• Al detectar 1 pod (&lt; 2), el ReplicaSet Controller crea uno nuevo de inmediato — sin intervención humana.</a:t>
            </a:r>
          </a:p>
        </p:txBody>
      </p:sp>
      <p:sp>
        <p:nvSpPr>
          <p:cNvPr id="19" name="TextBox 18"/>
          <p:cNvSpPr txBox="1"/>
          <p:nvPr/>
        </p:nvSpPr>
        <p:spPr>
          <a:xfrm>
            <a:off x="457200" y="4142232"/>
            <a:ext cx="8229600" cy="237744"/>
          </a:xfrm>
          <a:prstGeom prst="rect">
            <a:avLst/>
          </a:prstGeom>
          <a:noFill/>
        </p:spPr>
        <p:txBody>
          <a:bodyPr wrap="square">
            <a:spAutoFit/>
          </a:bodyPr>
          <a:lstStyle/>
          <a:p>
            <a:pPr algn="l"/>
            <a:r>
              <a:rPr sz="1000" b="0" i="0">
                <a:solidFill>
                  <a:srgbClr val="1E2D40"/>
                </a:solidFill>
              </a:rPr>
              <a:t>• El nuevo pod pasa por readinessProbe antes de recibir tráfico: el servicio nunca enruta a un pod no Ready.</a:t>
            </a:r>
          </a:p>
        </p:txBody>
      </p:sp>
      <p:sp>
        <p:nvSpPr>
          <p:cNvPr id="20" name="TextBox 19"/>
          <p:cNvSpPr txBox="1"/>
          <p:nvPr/>
        </p:nvSpPr>
        <p:spPr>
          <a:xfrm>
            <a:off x="457200" y="4416552"/>
            <a:ext cx="8229600" cy="237744"/>
          </a:xfrm>
          <a:prstGeom prst="rect">
            <a:avLst/>
          </a:prstGeom>
          <a:noFill/>
        </p:spPr>
        <p:txBody>
          <a:bodyPr wrap="square">
            <a:spAutoFit/>
          </a:bodyPr>
          <a:lstStyle/>
          <a:p>
            <a:pPr algn="l"/>
            <a:r>
              <a:rPr sz="1000" b="0" i="0">
                <a:solidFill>
                  <a:srgbClr val="1E2D40"/>
                </a:solidFill>
              </a:rPr>
              <a:t>• El otro pod siguió atendiendo durante todo el tiempo de recuperación — 0 segundos de downtime.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
            <a:ext cx="8412480" cy="475488"/>
          </a:xfrm>
          <a:prstGeom prst="rect">
            <a:avLst/>
          </a:prstGeom>
          <a:noFill/>
        </p:spPr>
        <p:txBody>
          <a:bodyPr wrap="square">
            <a:spAutoFit/>
          </a:bodyPr>
          <a:lstStyle/>
          <a:p>
            <a:pPr algn="l"/>
            <a:r>
              <a:rPr sz="2100" b="1" i="0">
                <a:solidFill>
                  <a:srgbClr val="FFFFFF"/>
                </a:solidFill>
              </a:rPr>
              <a:t>Logs y Monitoreo — CloudWatch + kubectl logs  (IE9)</a:t>
            </a:r>
          </a:p>
        </p:txBody>
      </p:sp>
      <p:sp>
        <p:nvSpPr>
          <p:cNvPr id="4" name="Rectangle 3"/>
          <p:cNvSpPr/>
          <p:nvPr/>
        </p:nvSpPr>
        <p:spPr>
          <a:xfrm>
            <a:off x="274320" y="777240"/>
            <a:ext cx="4114800" cy="3273552"/>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50392"/>
            <a:ext cx="3749039" cy="256032"/>
          </a:xfrm>
          <a:prstGeom prst="rect">
            <a:avLst/>
          </a:prstGeom>
          <a:noFill/>
        </p:spPr>
        <p:txBody>
          <a:bodyPr wrap="square">
            <a:spAutoFit/>
          </a:bodyPr>
          <a:lstStyle/>
          <a:p>
            <a:pPr algn="l"/>
            <a:r>
              <a:rPr sz="1100" b="1" i="0">
                <a:solidFill>
                  <a:srgbClr val="065A82"/>
                </a:solidFill>
              </a:rPr>
              <a:t>☁  CloudWatch — Plano de control EKS</a:t>
            </a:r>
          </a:p>
        </p:txBody>
      </p:sp>
      <p:sp>
        <p:nvSpPr>
          <p:cNvPr id="6" name="TextBox 5"/>
          <p:cNvSpPr txBox="1"/>
          <p:nvPr/>
        </p:nvSpPr>
        <p:spPr>
          <a:xfrm>
            <a:off x="457200" y="1188720"/>
            <a:ext cx="3749039" cy="228600"/>
          </a:xfrm>
          <a:prstGeom prst="rect">
            <a:avLst/>
          </a:prstGeom>
          <a:noFill/>
        </p:spPr>
        <p:txBody>
          <a:bodyPr wrap="square">
            <a:spAutoFit/>
          </a:bodyPr>
          <a:lstStyle/>
          <a:p>
            <a:pPr algn="l"/>
            <a:r>
              <a:rPr sz="950" b="1" i="0">
                <a:solidFill>
                  <a:srgbClr val="1C7293"/>
                </a:solidFill>
              </a:rPr>
              <a:t>Log group: /aws/eks/innovatech-eks/cluster</a:t>
            </a:r>
          </a:p>
        </p:txBody>
      </p:sp>
      <p:sp>
        <p:nvSpPr>
          <p:cNvPr id="7" name="TextBox 6"/>
          <p:cNvSpPr txBox="1"/>
          <p:nvPr/>
        </p:nvSpPr>
        <p:spPr>
          <a:xfrm>
            <a:off x="457200" y="1435608"/>
            <a:ext cx="3749039" cy="228600"/>
          </a:xfrm>
          <a:prstGeom prst="rect">
            <a:avLst/>
          </a:prstGeom>
          <a:noFill/>
        </p:spPr>
        <p:txBody>
          <a:bodyPr wrap="square">
            <a:spAutoFit/>
          </a:bodyPr>
          <a:lstStyle/>
          <a:p>
            <a:pPr algn="l"/>
            <a:r>
              <a:rPr sz="950" b="0" i="0">
                <a:solidFill>
                  <a:srgbClr val="1E2D40"/>
                </a:solidFill>
              </a:rPr>
              <a:t/>
            </a:r>
          </a:p>
        </p:txBody>
      </p:sp>
      <p:sp>
        <p:nvSpPr>
          <p:cNvPr id="8" name="TextBox 7"/>
          <p:cNvSpPr txBox="1"/>
          <p:nvPr/>
        </p:nvSpPr>
        <p:spPr>
          <a:xfrm>
            <a:off x="457200" y="1527048"/>
            <a:ext cx="3749039" cy="228600"/>
          </a:xfrm>
          <a:prstGeom prst="rect">
            <a:avLst/>
          </a:prstGeom>
          <a:noFill/>
        </p:spPr>
        <p:txBody>
          <a:bodyPr wrap="square">
            <a:spAutoFit/>
          </a:bodyPr>
          <a:lstStyle/>
          <a:p>
            <a:pPr algn="l"/>
            <a:r>
              <a:rPr sz="950" b="1" i="0">
                <a:solidFill>
                  <a:srgbClr val="065A82"/>
                </a:solidFill>
              </a:rPr>
              <a:t>24 streams activos:</a:t>
            </a:r>
          </a:p>
        </p:txBody>
      </p:sp>
      <p:sp>
        <p:nvSpPr>
          <p:cNvPr id="9" name="TextBox 8"/>
          <p:cNvSpPr txBox="1"/>
          <p:nvPr/>
        </p:nvSpPr>
        <p:spPr>
          <a:xfrm>
            <a:off x="457200" y="1773936"/>
            <a:ext cx="3749039" cy="228600"/>
          </a:xfrm>
          <a:prstGeom prst="rect">
            <a:avLst/>
          </a:prstGeom>
          <a:noFill/>
        </p:spPr>
        <p:txBody>
          <a:bodyPr wrap="square">
            <a:spAutoFit/>
          </a:bodyPr>
          <a:lstStyle/>
          <a:p>
            <a:pPr algn="l"/>
            <a:r>
              <a:rPr sz="950" b="0" i="0">
                <a:solidFill>
                  <a:srgbClr val="1E2D40"/>
                </a:solidFill>
              </a:rPr>
              <a:t>• kube-apiserver-*  (auditoría API)</a:t>
            </a:r>
          </a:p>
        </p:txBody>
      </p:sp>
      <p:sp>
        <p:nvSpPr>
          <p:cNvPr id="10" name="TextBox 9"/>
          <p:cNvSpPr txBox="1"/>
          <p:nvPr/>
        </p:nvSpPr>
        <p:spPr>
          <a:xfrm>
            <a:off x="457200" y="2020824"/>
            <a:ext cx="3749039" cy="228600"/>
          </a:xfrm>
          <a:prstGeom prst="rect">
            <a:avLst/>
          </a:prstGeom>
          <a:noFill/>
        </p:spPr>
        <p:txBody>
          <a:bodyPr wrap="square">
            <a:spAutoFit/>
          </a:bodyPr>
          <a:lstStyle/>
          <a:p>
            <a:pPr algn="l"/>
            <a:r>
              <a:rPr sz="950" b="0" i="0">
                <a:solidFill>
                  <a:srgbClr val="1E2D40"/>
                </a:solidFill>
              </a:rPr>
              <a:t>• kube-scheduler-*  (scheduling de pods)</a:t>
            </a:r>
          </a:p>
        </p:txBody>
      </p:sp>
      <p:sp>
        <p:nvSpPr>
          <p:cNvPr id="11" name="TextBox 10"/>
          <p:cNvSpPr txBox="1"/>
          <p:nvPr/>
        </p:nvSpPr>
        <p:spPr>
          <a:xfrm>
            <a:off x="457200" y="2267712"/>
            <a:ext cx="3749039" cy="228600"/>
          </a:xfrm>
          <a:prstGeom prst="rect">
            <a:avLst/>
          </a:prstGeom>
          <a:noFill/>
        </p:spPr>
        <p:txBody>
          <a:bodyPr wrap="square">
            <a:spAutoFit/>
          </a:bodyPr>
          <a:lstStyle/>
          <a:p>
            <a:pPr algn="l"/>
            <a:r>
              <a:rPr sz="950" b="0" i="0">
                <a:solidFill>
                  <a:srgbClr val="1E2D40"/>
                </a:solidFill>
              </a:rPr>
              <a:t>• kube-controller-manager-*</a:t>
            </a:r>
          </a:p>
        </p:txBody>
      </p:sp>
      <p:sp>
        <p:nvSpPr>
          <p:cNvPr id="12" name="TextBox 11"/>
          <p:cNvSpPr txBox="1"/>
          <p:nvPr/>
        </p:nvSpPr>
        <p:spPr>
          <a:xfrm>
            <a:off x="457200" y="2514600"/>
            <a:ext cx="3749039" cy="228600"/>
          </a:xfrm>
          <a:prstGeom prst="rect">
            <a:avLst/>
          </a:prstGeom>
          <a:noFill/>
        </p:spPr>
        <p:txBody>
          <a:bodyPr wrap="square">
            <a:spAutoFit/>
          </a:bodyPr>
          <a:lstStyle/>
          <a:p>
            <a:pPr algn="l"/>
            <a:r>
              <a:rPr sz="950" b="0" i="0">
                <a:solidFill>
                  <a:srgbClr val="1E2D40"/>
                </a:solidFill>
              </a:rPr>
              <a:t>• cloud-controller-manager-*  (ELB)</a:t>
            </a:r>
          </a:p>
        </p:txBody>
      </p:sp>
      <p:sp>
        <p:nvSpPr>
          <p:cNvPr id="13" name="TextBox 12"/>
          <p:cNvSpPr txBox="1"/>
          <p:nvPr/>
        </p:nvSpPr>
        <p:spPr>
          <a:xfrm>
            <a:off x="457200" y="2761488"/>
            <a:ext cx="3749039" cy="228600"/>
          </a:xfrm>
          <a:prstGeom prst="rect">
            <a:avLst/>
          </a:prstGeom>
          <a:noFill/>
        </p:spPr>
        <p:txBody>
          <a:bodyPr wrap="square">
            <a:spAutoFit/>
          </a:bodyPr>
          <a:lstStyle/>
          <a:p>
            <a:pPr algn="l"/>
            <a:r>
              <a:rPr sz="950" b="0" i="0">
                <a:solidFill>
                  <a:srgbClr val="1E2D40"/>
                </a:solidFill>
              </a:rPr>
              <a:t>• authenticator-*  (RBAC / IAM)</a:t>
            </a:r>
          </a:p>
        </p:txBody>
      </p:sp>
      <p:sp>
        <p:nvSpPr>
          <p:cNvPr id="14" name="TextBox 13"/>
          <p:cNvSpPr txBox="1"/>
          <p:nvPr/>
        </p:nvSpPr>
        <p:spPr>
          <a:xfrm>
            <a:off x="457200" y="3008376"/>
            <a:ext cx="3749039" cy="228600"/>
          </a:xfrm>
          <a:prstGeom prst="rect">
            <a:avLst/>
          </a:prstGeom>
          <a:noFill/>
        </p:spPr>
        <p:txBody>
          <a:bodyPr wrap="square">
            <a:spAutoFit/>
          </a:bodyPr>
          <a:lstStyle/>
          <a:p>
            <a:pPr algn="l"/>
            <a:r>
              <a:rPr sz="950" b="0" i="0">
                <a:solidFill>
                  <a:srgbClr val="1E2D40"/>
                </a:solidFill>
              </a:rPr>
              <a:t/>
            </a:r>
          </a:p>
        </p:txBody>
      </p:sp>
      <p:sp>
        <p:nvSpPr>
          <p:cNvPr id="15" name="TextBox 14"/>
          <p:cNvSpPr txBox="1"/>
          <p:nvPr/>
        </p:nvSpPr>
        <p:spPr>
          <a:xfrm>
            <a:off x="457200" y="3099816"/>
            <a:ext cx="3749039" cy="228600"/>
          </a:xfrm>
          <a:prstGeom prst="rect">
            <a:avLst/>
          </a:prstGeom>
          <a:noFill/>
        </p:spPr>
        <p:txBody>
          <a:bodyPr wrap="square">
            <a:spAutoFit/>
          </a:bodyPr>
          <a:lstStyle/>
          <a:p>
            <a:pPr algn="l"/>
            <a:r>
              <a:rPr sz="950" b="0" i="0">
                <a:solidFill>
                  <a:srgbClr val="1E2D40"/>
                </a:solidFill>
              </a:rPr>
              <a:t>Habilitado con enabled_cluster_log_types</a:t>
            </a:r>
          </a:p>
        </p:txBody>
      </p:sp>
      <p:sp>
        <p:nvSpPr>
          <p:cNvPr id="16" name="TextBox 15"/>
          <p:cNvSpPr txBox="1"/>
          <p:nvPr/>
        </p:nvSpPr>
        <p:spPr>
          <a:xfrm>
            <a:off x="457200" y="3346704"/>
            <a:ext cx="3749039" cy="228600"/>
          </a:xfrm>
          <a:prstGeom prst="rect">
            <a:avLst/>
          </a:prstGeom>
          <a:noFill/>
        </p:spPr>
        <p:txBody>
          <a:bodyPr wrap="square">
            <a:spAutoFit/>
          </a:bodyPr>
          <a:lstStyle/>
          <a:p>
            <a:pPr algn="l"/>
            <a:r>
              <a:rPr sz="950" b="0" i="0">
                <a:solidFill>
                  <a:srgbClr val="1E2D40"/>
                </a:solidFill>
              </a:rPr>
              <a:t>en aws_eks_cluster (Terraform)</a:t>
            </a:r>
          </a:p>
        </p:txBody>
      </p:sp>
      <p:sp>
        <p:nvSpPr>
          <p:cNvPr id="17" name="Rectangle 16"/>
          <p:cNvSpPr/>
          <p:nvPr/>
        </p:nvSpPr>
        <p:spPr>
          <a:xfrm>
            <a:off x="4617720" y="777240"/>
            <a:ext cx="4251960" cy="3273552"/>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850392"/>
            <a:ext cx="3886200" cy="256032"/>
          </a:xfrm>
          <a:prstGeom prst="rect">
            <a:avLst/>
          </a:prstGeom>
          <a:noFill/>
        </p:spPr>
        <p:txBody>
          <a:bodyPr wrap="square">
            <a:spAutoFit/>
          </a:bodyPr>
          <a:lstStyle/>
          <a:p>
            <a:pPr algn="l"/>
            <a:r>
              <a:rPr sz="1100" b="1" i="0">
                <a:solidFill>
                  <a:srgbClr val="1C7293"/>
                </a:solidFill>
              </a:rPr>
              <a:t>⚡  kubectl logs — Aplicaciones</a:t>
            </a:r>
          </a:p>
        </p:txBody>
      </p:sp>
      <p:sp>
        <p:nvSpPr>
          <p:cNvPr id="19" name="Rectangle 18"/>
          <p:cNvSpPr/>
          <p:nvPr/>
        </p:nvSpPr>
        <p:spPr>
          <a:xfrm>
            <a:off x="4709160" y="1188720"/>
            <a:ext cx="4069080" cy="2468880"/>
          </a:xfrm>
          <a:prstGeom prst="rect">
            <a:avLst/>
          </a:prstGeom>
          <a:solidFill>
            <a:srgbClr val="1E2D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82312" y="1261872"/>
            <a:ext cx="3913632" cy="210312"/>
          </a:xfrm>
          <a:prstGeom prst="rect">
            <a:avLst/>
          </a:prstGeom>
          <a:noFill/>
        </p:spPr>
        <p:txBody>
          <a:bodyPr wrap="square">
            <a:spAutoFit/>
          </a:bodyPr>
          <a:lstStyle/>
          <a:p>
            <a:pPr algn="l"/>
            <a:r>
              <a:rPr sz="800" b="0" i="0">
                <a:solidFill>
                  <a:srgbClr val="02C39A"/>
                </a:solidFill>
              </a:rPr>
              <a:t>$ kubectl logs deploy/backend-ventas \</a:t>
            </a:r>
          </a:p>
        </p:txBody>
      </p:sp>
      <p:sp>
        <p:nvSpPr>
          <p:cNvPr id="21" name="TextBox 20"/>
          <p:cNvSpPr txBox="1"/>
          <p:nvPr/>
        </p:nvSpPr>
        <p:spPr>
          <a:xfrm>
            <a:off x="4782312" y="1481328"/>
            <a:ext cx="3913632" cy="210312"/>
          </a:xfrm>
          <a:prstGeom prst="rect">
            <a:avLst/>
          </a:prstGeom>
          <a:noFill/>
        </p:spPr>
        <p:txBody>
          <a:bodyPr wrap="square">
            <a:spAutoFit/>
          </a:bodyPr>
          <a:lstStyle/>
          <a:p>
            <a:pPr algn="l"/>
            <a:r>
              <a:rPr sz="800" b="0" i="0">
                <a:solidFill>
                  <a:srgbClr val="02C39A"/>
                </a:solidFill>
              </a:rPr>
              <a:t>  --tail=50</a:t>
            </a:r>
          </a:p>
        </p:txBody>
      </p:sp>
      <p:sp>
        <p:nvSpPr>
          <p:cNvPr id="22" name="TextBox 21"/>
          <p:cNvSpPr txBox="1"/>
          <p:nvPr/>
        </p:nvSpPr>
        <p:spPr>
          <a:xfrm>
            <a:off x="4782312" y="1700784"/>
            <a:ext cx="3913632" cy="210312"/>
          </a:xfrm>
          <a:prstGeom prst="rect">
            <a:avLst/>
          </a:prstGeom>
          <a:noFill/>
        </p:spPr>
        <p:txBody>
          <a:bodyPr wrap="square">
            <a:spAutoFit/>
          </a:bodyPr>
          <a:lstStyle/>
          <a:p>
            <a:pPr algn="l"/>
            <a:r>
              <a:rPr sz="800" b="0" i="0">
                <a:solidFill>
                  <a:srgbClr val="FFFFFF"/>
                </a:solidFill>
              </a:rPr>
              <a:t/>
            </a:r>
          </a:p>
        </p:txBody>
      </p:sp>
      <p:sp>
        <p:nvSpPr>
          <p:cNvPr id="23" name="TextBox 22"/>
          <p:cNvSpPr txBox="1"/>
          <p:nvPr/>
        </p:nvSpPr>
        <p:spPr>
          <a:xfrm>
            <a:off x="4782312" y="1920239"/>
            <a:ext cx="3913632" cy="210312"/>
          </a:xfrm>
          <a:prstGeom prst="rect">
            <a:avLst/>
          </a:prstGeom>
          <a:noFill/>
        </p:spPr>
        <p:txBody>
          <a:bodyPr wrap="square">
            <a:spAutoFit/>
          </a:bodyPr>
          <a:lstStyle/>
          <a:p>
            <a:pPr algn="l"/>
            <a:r>
              <a:rPr sz="800" b="0" i="0">
                <a:solidFill>
                  <a:srgbClr val="7AB8D4"/>
                </a:solidFill>
              </a:rPr>
              <a:t>:: Spring Boot :: (v3.4.4)</a:t>
            </a:r>
          </a:p>
        </p:txBody>
      </p:sp>
      <p:sp>
        <p:nvSpPr>
          <p:cNvPr id="24" name="TextBox 23"/>
          <p:cNvSpPr txBox="1"/>
          <p:nvPr/>
        </p:nvSpPr>
        <p:spPr>
          <a:xfrm>
            <a:off x="4782312" y="2139696"/>
            <a:ext cx="3913632" cy="210312"/>
          </a:xfrm>
          <a:prstGeom prst="rect">
            <a:avLst/>
          </a:prstGeom>
          <a:noFill/>
        </p:spPr>
        <p:txBody>
          <a:bodyPr wrap="square">
            <a:spAutoFit/>
          </a:bodyPr>
          <a:lstStyle/>
          <a:p>
            <a:pPr algn="l"/>
            <a:r>
              <a:rPr sz="800" b="0" i="0">
                <a:solidFill>
                  <a:srgbClr val="FFFFFF"/>
                </a:solidFill>
              </a:rPr>
              <a:t>Starting SpringbootApiRestApplication</a:t>
            </a:r>
          </a:p>
        </p:txBody>
      </p:sp>
      <p:sp>
        <p:nvSpPr>
          <p:cNvPr id="25" name="TextBox 24"/>
          <p:cNvSpPr txBox="1"/>
          <p:nvPr/>
        </p:nvSpPr>
        <p:spPr>
          <a:xfrm>
            <a:off x="4782312" y="2359152"/>
            <a:ext cx="3913632" cy="210312"/>
          </a:xfrm>
          <a:prstGeom prst="rect">
            <a:avLst/>
          </a:prstGeom>
          <a:noFill/>
        </p:spPr>
        <p:txBody>
          <a:bodyPr wrap="square">
            <a:spAutoFit/>
          </a:bodyPr>
          <a:lstStyle/>
          <a:p>
            <a:pPr algn="l"/>
            <a:r>
              <a:rPr sz="800" b="0" i="0">
                <a:solidFill>
                  <a:srgbClr val="02C39A"/>
                </a:solidFill>
              </a:rPr>
              <a:t>HikariPool-1 - Start completed.</a:t>
            </a:r>
          </a:p>
        </p:txBody>
      </p:sp>
      <p:sp>
        <p:nvSpPr>
          <p:cNvPr id="26" name="TextBox 25"/>
          <p:cNvSpPr txBox="1"/>
          <p:nvPr/>
        </p:nvSpPr>
        <p:spPr>
          <a:xfrm>
            <a:off x="4782312" y="2578608"/>
            <a:ext cx="3913632" cy="210312"/>
          </a:xfrm>
          <a:prstGeom prst="rect">
            <a:avLst/>
          </a:prstGeom>
          <a:noFill/>
        </p:spPr>
        <p:txBody>
          <a:bodyPr wrap="square">
            <a:spAutoFit/>
          </a:bodyPr>
          <a:lstStyle/>
          <a:p>
            <a:pPr algn="l"/>
            <a:r>
              <a:rPr sz="800" b="0" i="0">
                <a:solidFill>
                  <a:srgbClr val="02C39A"/>
                </a:solidFill>
              </a:rPr>
              <a:t>Tomcat started on port(s): 8080</a:t>
            </a:r>
          </a:p>
        </p:txBody>
      </p:sp>
      <p:sp>
        <p:nvSpPr>
          <p:cNvPr id="27" name="TextBox 26"/>
          <p:cNvSpPr txBox="1"/>
          <p:nvPr/>
        </p:nvSpPr>
        <p:spPr>
          <a:xfrm>
            <a:off x="4782312" y="2798064"/>
            <a:ext cx="3913632" cy="210312"/>
          </a:xfrm>
          <a:prstGeom prst="rect">
            <a:avLst/>
          </a:prstGeom>
          <a:noFill/>
        </p:spPr>
        <p:txBody>
          <a:bodyPr wrap="square">
            <a:spAutoFit/>
          </a:bodyPr>
          <a:lstStyle/>
          <a:p>
            <a:pPr algn="l"/>
            <a:r>
              <a:rPr sz="800" b="0" i="0">
                <a:solidFill>
                  <a:srgbClr val="02C39A"/>
                </a:solidFill>
              </a:rPr>
              <a:t>Started SpringbootApiRestApplication</a:t>
            </a:r>
          </a:p>
        </p:txBody>
      </p:sp>
      <p:sp>
        <p:nvSpPr>
          <p:cNvPr id="28" name="TextBox 27"/>
          <p:cNvSpPr txBox="1"/>
          <p:nvPr/>
        </p:nvSpPr>
        <p:spPr>
          <a:xfrm>
            <a:off x="4782312" y="3017520"/>
            <a:ext cx="3913632" cy="210312"/>
          </a:xfrm>
          <a:prstGeom prst="rect">
            <a:avLst/>
          </a:prstGeom>
          <a:noFill/>
        </p:spPr>
        <p:txBody>
          <a:bodyPr wrap="square">
            <a:spAutoFit/>
          </a:bodyPr>
          <a:lstStyle/>
          <a:p>
            <a:pPr algn="l"/>
            <a:r>
              <a:rPr sz="800" b="0" i="0">
                <a:solidFill>
                  <a:srgbClr val="FFFFFF"/>
                </a:solidFill>
              </a:rPr>
              <a:t>GET /api/v1/ventas   200    12ms</a:t>
            </a:r>
          </a:p>
        </p:txBody>
      </p:sp>
      <p:sp>
        <p:nvSpPr>
          <p:cNvPr id="29" name="TextBox 28"/>
          <p:cNvSpPr txBox="1"/>
          <p:nvPr/>
        </p:nvSpPr>
        <p:spPr>
          <a:xfrm>
            <a:off x="4782312" y="3236976"/>
            <a:ext cx="3913632" cy="210312"/>
          </a:xfrm>
          <a:prstGeom prst="rect">
            <a:avLst/>
          </a:prstGeom>
          <a:noFill/>
        </p:spPr>
        <p:txBody>
          <a:bodyPr wrap="square">
            <a:spAutoFit/>
          </a:bodyPr>
          <a:lstStyle/>
          <a:p>
            <a:pPr algn="l"/>
            <a:r>
              <a:rPr sz="800" b="0" i="0">
                <a:solidFill>
                  <a:srgbClr val="FFFFFF"/>
                </a:solidFill>
              </a:rPr>
              <a:t>GET /actuator/health 200     3ms</a:t>
            </a:r>
          </a:p>
        </p:txBody>
      </p:sp>
      <p:sp>
        <p:nvSpPr>
          <p:cNvPr id="30" name="TextBox 29"/>
          <p:cNvSpPr txBox="1"/>
          <p:nvPr/>
        </p:nvSpPr>
        <p:spPr>
          <a:xfrm>
            <a:off x="4782312" y="3456432"/>
            <a:ext cx="3913632" cy="210312"/>
          </a:xfrm>
          <a:prstGeom prst="rect">
            <a:avLst/>
          </a:prstGeom>
          <a:noFill/>
        </p:spPr>
        <p:txBody>
          <a:bodyPr wrap="square">
            <a:spAutoFit/>
          </a:bodyPr>
          <a:lstStyle/>
          <a:p>
            <a:pPr algn="l"/>
            <a:r>
              <a:rPr sz="800" b="0" i="0">
                <a:solidFill>
                  <a:srgbClr val="FFFFFF"/>
                </a:solidFill>
              </a:rPr>
              <a:t>GET /api/v1/ventas   200     8ms</a:t>
            </a:r>
          </a:p>
        </p:txBody>
      </p:sp>
      <p:sp>
        <p:nvSpPr>
          <p:cNvPr id="31" name="TextBox 30"/>
          <p:cNvSpPr txBox="1"/>
          <p:nvPr/>
        </p:nvSpPr>
        <p:spPr>
          <a:xfrm>
            <a:off x="274320" y="4169663"/>
            <a:ext cx="8595360" cy="274320"/>
          </a:xfrm>
          <a:prstGeom prst="rect">
            <a:avLst/>
          </a:prstGeom>
          <a:noFill/>
        </p:spPr>
        <p:txBody>
          <a:bodyPr wrap="square">
            <a:spAutoFit/>
          </a:bodyPr>
          <a:lstStyle/>
          <a:p>
            <a:pPr algn="l"/>
            <a:r>
              <a:rPr sz="1100" b="1" i="0">
                <a:solidFill>
                  <a:srgbClr val="02C39A"/>
                </a:solidFill>
              </a:rPr>
              <a:t>La rúbrica acepta CloudWatch O kubectl logs — tenemos ambos disponibles.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B"/>
        </a:solidFill>
        <a:effectLst/>
      </p:bgPr>
    </p:bg>
    <p:spTree>
      <p:nvGrpSpPr>
        <p:cNvPr id="1" name=""/>
        <p:cNvGrpSpPr/>
        <p:nvPr/>
      </p:nvGrpSpPr>
      <p:grpSpPr/>
      <p:sp>
        <p:nvSpPr>
          <p:cNvPr id="2" name="Rectangle 1"/>
          <p:cNvSpPr/>
          <p:nvPr/>
        </p:nvSpPr>
        <p:spPr>
          <a:xfrm>
            <a:off x="0" y="0"/>
            <a:ext cx="9144000" cy="685800"/>
          </a:xfrm>
          <a:prstGeom prst="rect">
            <a:avLst/>
          </a:prstGeom>
          <a:solidFill>
            <a:srgbClr val="BF36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18872"/>
            <a:ext cx="8412480" cy="475488"/>
          </a:xfrm>
          <a:prstGeom prst="rect">
            <a:avLst/>
          </a:prstGeom>
          <a:noFill/>
        </p:spPr>
        <p:txBody>
          <a:bodyPr wrap="square">
            <a:spAutoFit/>
          </a:bodyPr>
          <a:lstStyle/>
          <a:p>
            <a:pPr algn="l"/>
            <a:r>
              <a:rPr sz="2100" b="1" i="0">
                <a:solidFill>
                  <a:srgbClr val="FFFFFF"/>
                </a:solidFill>
              </a:rPr>
              <a:t>Análisis crítico — Problemas, decisiones y proyección productiva</a:t>
            </a:r>
          </a:p>
        </p:txBody>
      </p:sp>
      <p:sp>
        <p:nvSpPr>
          <p:cNvPr id="4" name="Rectangle 3"/>
          <p:cNvSpPr/>
          <p:nvPr/>
        </p:nvSpPr>
        <p:spPr>
          <a:xfrm>
            <a:off x="274320" y="804672"/>
            <a:ext cx="8595360" cy="804672"/>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804672"/>
            <a:ext cx="228600" cy="804672"/>
          </a:xfrm>
          <a:prstGeom prst="rect">
            <a:avLst/>
          </a:prstGeom>
          <a:solidFill>
            <a:srgbClr val="BF36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59536"/>
            <a:ext cx="8229600" cy="256032"/>
          </a:xfrm>
          <a:prstGeom prst="rect">
            <a:avLst/>
          </a:prstGeom>
          <a:noFill/>
        </p:spPr>
        <p:txBody>
          <a:bodyPr wrap="square">
            <a:spAutoFit/>
          </a:bodyPr>
          <a:lstStyle/>
          <a:p>
            <a:pPr algn="l"/>
            <a:r>
              <a:rPr sz="1050" b="1" i="0">
                <a:solidFill>
                  <a:srgbClr val="BF360C"/>
                </a:solidFill>
              </a:rPr>
              <a:t>Lab Academy resetea todo</a:t>
            </a:r>
          </a:p>
        </p:txBody>
      </p:sp>
      <p:sp>
        <p:nvSpPr>
          <p:cNvPr id="7" name="TextBox 6"/>
          <p:cNvSpPr txBox="1"/>
          <p:nvPr/>
        </p:nvSpPr>
        <p:spPr>
          <a:xfrm>
            <a:off x="594360" y="1152144"/>
            <a:ext cx="8046720" cy="402336"/>
          </a:xfrm>
          <a:prstGeom prst="rect">
            <a:avLst/>
          </a:prstGeom>
          <a:noFill/>
        </p:spPr>
        <p:txBody>
          <a:bodyPr wrap="square">
            <a:spAutoFit/>
          </a:bodyPr>
          <a:lstStyle/>
          <a:p>
            <a:pPr algn="l"/>
            <a:r>
              <a:rPr sz="1000" b="0" i="0">
                <a:solidFill>
                  <a:srgbClr val="1E2D40"/>
                </a:solidFill>
              </a:rPr>
              <a:t>Cluster, nodos y ECR desaparecen al reiniciar. Solución: terraform apply -target=aws_ecr_repository.this (solo ECR, rápido) + terraform apply completo en infra/eks (15 min).</a:t>
            </a:r>
          </a:p>
        </p:txBody>
      </p:sp>
      <p:sp>
        <p:nvSpPr>
          <p:cNvPr id="8" name="Rectangle 7"/>
          <p:cNvSpPr/>
          <p:nvPr/>
        </p:nvSpPr>
        <p:spPr>
          <a:xfrm>
            <a:off x="274320" y="1691640"/>
            <a:ext cx="8595360" cy="804672"/>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691640"/>
            <a:ext cx="228600" cy="804672"/>
          </a:xfrm>
          <a:prstGeom prst="rect">
            <a:avLst/>
          </a:prstGeom>
          <a:solidFill>
            <a:srgbClr val="AA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746504"/>
            <a:ext cx="8229600" cy="256032"/>
          </a:xfrm>
          <a:prstGeom prst="rect">
            <a:avLst/>
          </a:prstGeom>
          <a:noFill/>
        </p:spPr>
        <p:txBody>
          <a:bodyPr wrap="square">
            <a:spAutoFit/>
          </a:bodyPr>
          <a:lstStyle/>
          <a:p>
            <a:pPr algn="l"/>
            <a:r>
              <a:rPr sz="1050" b="1" i="0">
                <a:solidFill>
                  <a:srgbClr val="AA4400"/>
                </a:solidFill>
              </a:rPr>
              <a:t>Token inválido en GitHub Actions</a:t>
            </a:r>
          </a:p>
        </p:txBody>
      </p:sp>
      <p:sp>
        <p:nvSpPr>
          <p:cNvPr id="11" name="TextBox 10"/>
          <p:cNvSpPr txBox="1"/>
          <p:nvPr/>
        </p:nvSpPr>
        <p:spPr>
          <a:xfrm>
            <a:off x="594360" y="2039112"/>
            <a:ext cx="8046720" cy="402336"/>
          </a:xfrm>
          <a:prstGeom prst="rect">
            <a:avLst/>
          </a:prstGeom>
          <a:noFill/>
        </p:spPr>
        <p:txBody>
          <a:bodyPr wrap="square">
            <a:spAutoFit/>
          </a:bodyPr>
          <a:lstStyle/>
          <a:p>
            <a:pPr algn="l"/>
            <a:r>
              <a:rPr sz="1000" b="0" i="0">
                <a:solidFill>
                  <a:srgbClr val="1E2D40"/>
                </a:solidFill>
              </a:rPr>
              <a:t>Credenciales Academy (~4h) deben copiarse como set completo y del mismo momento. Un valor de distinto instante invalida al otro aunque funcione local.</a:t>
            </a:r>
          </a:p>
        </p:txBody>
      </p:sp>
      <p:sp>
        <p:nvSpPr>
          <p:cNvPr id="12" name="Rectangle 11"/>
          <p:cNvSpPr/>
          <p:nvPr/>
        </p:nvSpPr>
        <p:spPr>
          <a:xfrm>
            <a:off x="274320" y="2578608"/>
            <a:ext cx="8595360" cy="804672"/>
          </a:xfrm>
          <a:prstGeom prst="rect">
            <a:avLst/>
          </a:prstGeom>
          <a:solidFill>
            <a:srgbClr val="FFFFFF"/>
          </a:solidFill>
          <a:ln w="9525">
            <a:solidFill>
              <a:srgbClr val="CF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2578608"/>
            <a:ext cx="228600" cy="804672"/>
          </a:xfrm>
          <a:prstGeom prst="rect">
            <a:avLst/>
          </a:prstGeom>
          <a:solidFill>
            <a:srgbClr val="065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633472"/>
            <a:ext cx="8229600" cy="256032"/>
          </a:xfrm>
          <a:prstGeom prst="rect">
            <a:avLst/>
          </a:prstGeom>
          <a:noFill/>
        </p:spPr>
        <p:txBody>
          <a:bodyPr wrap="square">
            <a:spAutoFit/>
          </a:bodyPr>
          <a:lstStyle/>
          <a:p>
            <a:pPr algn="l"/>
            <a:r>
              <a:rPr sz="1050" b="1" i="0">
                <a:solidFill>
                  <a:srgbClr val="065A82"/>
                </a:solidFill>
              </a:rPr>
              <a:t>CrashLoopBackOff + MySQL Pending</a:t>
            </a:r>
          </a:p>
        </p:txBody>
      </p:sp>
      <p:sp>
        <p:nvSpPr>
          <p:cNvPr id="15" name="TextBox 14"/>
          <p:cNvSpPr txBox="1"/>
          <p:nvPr/>
        </p:nvSpPr>
        <p:spPr>
          <a:xfrm>
            <a:off x="594360" y="2926080"/>
            <a:ext cx="8046720" cy="402336"/>
          </a:xfrm>
          <a:prstGeom prst="rect">
            <a:avLst/>
          </a:prstGeom>
          <a:noFill/>
        </p:spPr>
        <p:txBody>
          <a:bodyPr wrap="square">
            <a:spAutoFit/>
          </a:bodyPr>
          <a:lstStyle/>
          <a:p>
            <a:pPr algn="l"/>
            <a:r>
              <a:rPr sz="1000" b="0" i="0">
                <a:solidFill>
                  <a:srgbClr val="1E2D40"/>
                </a:solidFill>
              </a:rPr>
              <a:t>maxSurge default 25% crea 1 pod extra en rollout. Con 1 nodo, eso agotó la RAM y MySQL no pudo schedulearse. Fix permanente: maxSurge:0 / maxUnavailable:1 en los 3 Deployments.</a:t>
            </a:r>
          </a:p>
        </p:txBody>
      </p:sp>
      <p:sp>
        <p:nvSpPr>
          <p:cNvPr id="16" name="Rectangle 15"/>
          <p:cNvSpPr/>
          <p:nvPr/>
        </p:nvSpPr>
        <p:spPr>
          <a:xfrm>
            <a:off x="274320" y="3493008"/>
            <a:ext cx="8595360" cy="1435608"/>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566160"/>
            <a:ext cx="8229600" cy="274320"/>
          </a:xfrm>
          <a:prstGeom prst="rect">
            <a:avLst/>
          </a:prstGeom>
          <a:noFill/>
        </p:spPr>
        <p:txBody>
          <a:bodyPr wrap="square">
            <a:spAutoFit/>
          </a:bodyPr>
          <a:lstStyle/>
          <a:p>
            <a:pPr algn="l"/>
            <a:r>
              <a:rPr sz="1200" b="1" i="0">
                <a:solidFill>
                  <a:srgbClr val="02C39A"/>
                </a:solidFill>
              </a:rPr>
              <a:t>Proyección a producción real — Innovatech Chile</a:t>
            </a:r>
          </a:p>
        </p:txBody>
      </p:sp>
      <p:sp>
        <p:nvSpPr>
          <p:cNvPr id="18" name="TextBox 17"/>
          <p:cNvSpPr txBox="1"/>
          <p:nvPr/>
        </p:nvSpPr>
        <p:spPr>
          <a:xfrm>
            <a:off x="502920" y="3913632"/>
            <a:ext cx="8229600" cy="219456"/>
          </a:xfrm>
          <a:prstGeom prst="rect">
            <a:avLst/>
          </a:prstGeom>
          <a:noFill/>
        </p:spPr>
        <p:txBody>
          <a:bodyPr wrap="square">
            <a:spAutoFit/>
          </a:bodyPr>
          <a:lstStyle/>
          <a:p>
            <a:pPr algn="l"/>
            <a:r>
              <a:rPr sz="950" b="0" i="0">
                <a:solidFill>
                  <a:srgbClr val="CCEAFF"/>
                </a:solidFill>
              </a:rPr>
              <a:t>• Multi-nodo: node group mín 2 instancias en AZ distintas → alta disponibilidad real sin Single Point of Failure</a:t>
            </a:r>
          </a:p>
        </p:txBody>
      </p:sp>
      <p:sp>
        <p:nvSpPr>
          <p:cNvPr id="19" name="TextBox 18"/>
          <p:cNvSpPr txBox="1"/>
          <p:nvPr/>
        </p:nvSpPr>
        <p:spPr>
          <a:xfrm>
            <a:off x="502920" y="4160520"/>
            <a:ext cx="8229600" cy="219456"/>
          </a:xfrm>
          <a:prstGeom prst="rect">
            <a:avLst/>
          </a:prstGeom>
          <a:noFill/>
        </p:spPr>
        <p:txBody>
          <a:bodyPr wrap="square">
            <a:spAutoFit/>
          </a:bodyPr>
          <a:lstStyle/>
          <a:p>
            <a:pPr algn="l"/>
            <a:r>
              <a:rPr sz="950" b="0" i="0">
                <a:solidFill>
                  <a:srgbClr val="CCEAFF"/>
                </a:solidFill>
              </a:rPr>
              <a:t>• PersistentVolumeClaim en MySQL con EBS gp3 → datos persistentes ante recreación del pod</a:t>
            </a:r>
          </a:p>
        </p:txBody>
      </p:sp>
      <p:sp>
        <p:nvSpPr>
          <p:cNvPr id="20" name="TextBox 19"/>
          <p:cNvSpPr txBox="1"/>
          <p:nvPr/>
        </p:nvSpPr>
        <p:spPr>
          <a:xfrm>
            <a:off x="502920" y="4407408"/>
            <a:ext cx="8229600" cy="219456"/>
          </a:xfrm>
          <a:prstGeom prst="rect">
            <a:avLst/>
          </a:prstGeom>
          <a:noFill/>
        </p:spPr>
        <p:txBody>
          <a:bodyPr wrap="square">
            <a:spAutoFit/>
          </a:bodyPr>
          <a:lstStyle/>
          <a:p>
            <a:pPr algn="l"/>
            <a:r>
              <a:rPr sz="950" b="0" i="0">
                <a:solidFill>
                  <a:srgbClr val="CCEAFF"/>
                </a:solidFill>
              </a:rPr>
              <a:t>• Secrets Manager de AWS en vez de kubectl create secret → rotación automática sin tocar el pipeline</a:t>
            </a:r>
          </a:p>
        </p:txBody>
      </p:sp>
      <p:sp>
        <p:nvSpPr>
          <p:cNvPr id="21" name="TextBox 20"/>
          <p:cNvSpPr txBox="1"/>
          <p:nvPr/>
        </p:nvSpPr>
        <p:spPr>
          <a:xfrm>
            <a:off x="502920" y="4654296"/>
            <a:ext cx="8229600" cy="219456"/>
          </a:xfrm>
          <a:prstGeom prst="rect">
            <a:avLst/>
          </a:prstGeom>
          <a:noFill/>
        </p:spPr>
        <p:txBody>
          <a:bodyPr wrap="square">
            <a:spAutoFit/>
          </a:bodyPr>
          <a:lstStyle/>
          <a:p>
            <a:pPr algn="l"/>
            <a:r>
              <a:rPr sz="950" b="0" i="0">
                <a:solidFill>
                  <a:srgbClr val="CCEAFF"/>
                </a:solidFill>
              </a:rPr>
              <a:t>• Ingress con TLS (cert-manager + ACM) en vez de Classic ELB → HTTPS y múltiples servicios en un solo LB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64008" cy="5143500"/>
          </a:xfrm>
          <a:prstGeom prst="rect">
            <a:avLst/>
          </a:prstGeom>
          <a:solidFill>
            <a:srgbClr val="02C3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8229600" cy="475488"/>
          </a:xfrm>
          <a:prstGeom prst="rect">
            <a:avLst/>
          </a:prstGeom>
          <a:noFill/>
        </p:spPr>
        <p:txBody>
          <a:bodyPr wrap="square">
            <a:spAutoFit/>
          </a:bodyPr>
          <a:lstStyle/>
          <a:p>
            <a:pPr algn="l"/>
            <a:r>
              <a:rPr sz="3400" b="1" i="0">
                <a:solidFill>
                  <a:srgbClr val="FFFFFF"/>
                </a:solidFill>
              </a:rPr>
              <a:t>Conclusión</a:t>
            </a:r>
          </a:p>
        </p:txBody>
      </p:sp>
      <p:sp>
        <p:nvSpPr>
          <p:cNvPr id="4" name="TextBox 3"/>
          <p:cNvSpPr txBox="1"/>
          <p:nvPr/>
        </p:nvSpPr>
        <p:spPr>
          <a:xfrm>
            <a:off x="548640" y="877824"/>
            <a:ext cx="8229600" cy="292608"/>
          </a:xfrm>
          <a:prstGeom prst="rect">
            <a:avLst/>
          </a:prstGeom>
          <a:noFill/>
        </p:spPr>
        <p:txBody>
          <a:bodyPr wrap="square">
            <a:spAutoFit/>
          </a:bodyPr>
          <a:lstStyle/>
          <a:p>
            <a:pPr algn="l"/>
            <a:r>
              <a:rPr sz="1300" b="0" i="0">
                <a:solidFill>
                  <a:srgbClr val="5A7A94"/>
                </a:solidFill>
              </a:rPr>
              <a:t>Innovatech Chile — EP3 DevOps &amp; Orquestación</a:t>
            </a:r>
          </a:p>
        </p:txBody>
      </p:sp>
      <p:sp>
        <p:nvSpPr>
          <p:cNvPr id="5" name="Rectangle 4"/>
          <p:cNvSpPr/>
          <p:nvPr/>
        </p:nvSpPr>
        <p:spPr>
          <a:xfrm>
            <a:off x="548640" y="1472184"/>
            <a:ext cx="502920" cy="237744"/>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99616"/>
            <a:ext cx="502920" cy="182880"/>
          </a:xfrm>
          <a:prstGeom prst="rect">
            <a:avLst/>
          </a:prstGeom>
          <a:noFill/>
        </p:spPr>
        <p:txBody>
          <a:bodyPr wrap="square">
            <a:spAutoFit/>
          </a:bodyPr>
          <a:lstStyle/>
          <a:p>
            <a:pPr algn="ctr"/>
            <a:r>
              <a:rPr sz="800" b="1" i="0">
                <a:solidFill>
                  <a:srgbClr val="FFFFFF"/>
                </a:solidFill>
              </a:rPr>
              <a:t>IE8</a:t>
            </a:r>
          </a:p>
        </p:txBody>
      </p:sp>
      <p:sp>
        <p:nvSpPr>
          <p:cNvPr id="7" name="TextBox 6"/>
          <p:cNvSpPr txBox="1"/>
          <p:nvPr/>
        </p:nvSpPr>
        <p:spPr>
          <a:xfrm>
            <a:off x="1143000" y="1472184"/>
            <a:ext cx="7589520" cy="237744"/>
          </a:xfrm>
          <a:prstGeom prst="rect">
            <a:avLst/>
          </a:prstGeom>
          <a:noFill/>
        </p:spPr>
        <p:txBody>
          <a:bodyPr wrap="square">
            <a:spAutoFit/>
          </a:bodyPr>
          <a:lstStyle/>
          <a:p>
            <a:pPr algn="l"/>
            <a:r>
              <a:rPr sz="1150" b="0" i="0">
                <a:solidFill>
                  <a:srgbClr val="FFFFFF"/>
                </a:solidFill>
              </a:rPr>
              <a:t>Cluster EKS con redes, SG, LabRole, HPA y 4 garantías explicadas</a:t>
            </a:r>
          </a:p>
        </p:txBody>
      </p:sp>
      <p:sp>
        <p:nvSpPr>
          <p:cNvPr id="8" name="Rectangle 7"/>
          <p:cNvSpPr/>
          <p:nvPr/>
        </p:nvSpPr>
        <p:spPr>
          <a:xfrm>
            <a:off x="548640" y="1856231"/>
            <a:ext cx="502920" cy="237744"/>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83664"/>
            <a:ext cx="502920" cy="182880"/>
          </a:xfrm>
          <a:prstGeom prst="rect">
            <a:avLst/>
          </a:prstGeom>
          <a:noFill/>
        </p:spPr>
        <p:txBody>
          <a:bodyPr wrap="square">
            <a:spAutoFit/>
          </a:bodyPr>
          <a:lstStyle/>
          <a:p>
            <a:pPr algn="ctr"/>
            <a:r>
              <a:rPr sz="800" b="1" i="0">
                <a:solidFill>
                  <a:srgbClr val="FFFFFF"/>
                </a:solidFill>
              </a:rPr>
              <a:t>IE9</a:t>
            </a:r>
          </a:p>
        </p:txBody>
      </p:sp>
      <p:sp>
        <p:nvSpPr>
          <p:cNvPr id="10" name="TextBox 9"/>
          <p:cNvSpPr txBox="1"/>
          <p:nvPr/>
        </p:nvSpPr>
        <p:spPr>
          <a:xfrm>
            <a:off x="1143000" y="1856231"/>
            <a:ext cx="7589520" cy="237744"/>
          </a:xfrm>
          <a:prstGeom prst="rect">
            <a:avLst/>
          </a:prstGeom>
          <a:noFill/>
        </p:spPr>
        <p:txBody>
          <a:bodyPr wrap="square">
            <a:spAutoFit/>
          </a:bodyPr>
          <a:lstStyle/>
          <a:p>
            <a:pPr algn="l"/>
            <a:r>
              <a:rPr sz="1150" b="0" i="0">
                <a:solidFill>
                  <a:srgbClr val="FFFFFF"/>
                </a:solidFill>
              </a:rPr>
              <a:t>Pipeline cd-eks.yml: build→push→deploy en ~10 min, demostrado en Actions</a:t>
            </a:r>
          </a:p>
        </p:txBody>
      </p:sp>
      <p:sp>
        <p:nvSpPr>
          <p:cNvPr id="11" name="Rectangle 10"/>
          <p:cNvSpPr/>
          <p:nvPr/>
        </p:nvSpPr>
        <p:spPr>
          <a:xfrm>
            <a:off x="548640" y="2240280"/>
            <a:ext cx="502920" cy="237744"/>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267712"/>
            <a:ext cx="502920" cy="182880"/>
          </a:xfrm>
          <a:prstGeom prst="rect">
            <a:avLst/>
          </a:prstGeom>
          <a:noFill/>
        </p:spPr>
        <p:txBody>
          <a:bodyPr wrap="square">
            <a:spAutoFit/>
          </a:bodyPr>
          <a:lstStyle/>
          <a:p>
            <a:pPr algn="ctr"/>
            <a:r>
              <a:rPr sz="800" b="1" i="0">
                <a:solidFill>
                  <a:srgbClr val="FFFFFF"/>
                </a:solidFill>
              </a:rPr>
              <a:t>IE9</a:t>
            </a:r>
          </a:p>
        </p:txBody>
      </p:sp>
      <p:sp>
        <p:nvSpPr>
          <p:cNvPr id="13" name="TextBox 12"/>
          <p:cNvSpPr txBox="1"/>
          <p:nvPr/>
        </p:nvSpPr>
        <p:spPr>
          <a:xfrm>
            <a:off x="1143000" y="2240280"/>
            <a:ext cx="7589520" cy="237744"/>
          </a:xfrm>
          <a:prstGeom prst="rect">
            <a:avLst/>
          </a:prstGeom>
          <a:noFill/>
        </p:spPr>
        <p:txBody>
          <a:bodyPr wrap="square">
            <a:spAutoFit/>
          </a:bodyPr>
          <a:lstStyle/>
          <a:p>
            <a:pPr algn="l"/>
            <a:r>
              <a:rPr sz="1150" b="0" i="0">
                <a:solidFill>
                  <a:srgbClr val="FFFFFF"/>
                </a:solidFill>
              </a:rPr>
              <a:t>Autoscaling, self-healing y logs evidenciados en vivo</a:t>
            </a:r>
          </a:p>
        </p:txBody>
      </p:sp>
      <p:sp>
        <p:nvSpPr>
          <p:cNvPr id="14" name="Rectangle 13"/>
          <p:cNvSpPr/>
          <p:nvPr/>
        </p:nvSpPr>
        <p:spPr>
          <a:xfrm>
            <a:off x="548640" y="2624328"/>
            <a:ext cx="502920" cy="237744"/>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651760"/>
            <a:ext cx="502920" cy="182880"/>
          </a:xfrm>
          <a:prstGeom prst="rect">
            <a:avLst/>
          </a:prstGeom>
          <a:noFill/>
        </p:spPr>
        <p:txBody>
          <a:bodyPr wrap="square">
            <a:spAutoFit/>
          </a:bodyPr>
          <a:lstStyle/>
          <a:p>
            <a:pPr algn="ctr"/>
            <a:r>
              <a:rPr sz="800" b="1" i="0">
                <a:solidFill>
                  <a:srgbClr val="FFFFFF"/>
                </a:solidFill>
              </a:rPr>
              <a:t>IE10</a:t>
            </a:r>
          </a:p>
        </p:txBody>
      </p:sp>
      <p:sp>
        <p:nvSpPr>
          <p:cNvPr id="16" name="TextBox 15"/>
          <p:cNvSpPr txBox="1"/>
          <p:nvPr/>
        </p:nvSpPr>
        <p:spPr>
          <a:xfrm>
            <a:off x="1143000" y="2624328"/>
            <a:ext cx="7589520" cy="237744"/>
          </a:xfrm>
          <a:prstGeom prst="rect">
            <a:avLst/>
          </a:prstGeom>
          <a:noFill/>
        </p:spPr>
        <p:txBody>
          <a:bodyPr wrap="square">
            <a:spAutoFit/>
          </a:bodyPr>
          <a:lstStyle/>
          <a:p>
            <a:pPr algn="l"/>
            <a:r>
              <a:rPr sz="1150" b="0" i="0">
                <a:solidFill>
                  <a:srgbClr val="FFFFFF"/>
                </a:solidFill>
              </a:rPr>
              <a:t>3 problemas técnicos reales con solución documentada y proyección productiva</a:t>
            </a:r>
          </a:p>
        </p:txBody>
      </p:sp>
      <p:sp>
        <p:nvSpPr>
          <p:cNvPr id="17" name="Rectangle 16"/>
          <p:cNvSpPr/>
          <p:nvPr/>
        </p:nvSpPr>
        <p:spPr>
          <a:xfrm>
            <a:off x="548640" y="3008376"/>
            <a:ext cx="502920" cy="237744"/>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035808"/>
            <a:ext cx="502920" cy="182880"/>
          </a:xfrm>
          <a:prstGeom prst="rect">
            <a:avLst/>
          </a:prstGeom>
          <a:noFill/>
        </p:spPr>
        <p:txBody>
          <a:bodyPr wrap="square">
            <a:spAutoFit/>
          </a:bodyPr>
          <a:lstStyle/>
          <a:p>
            <a:pPr algn="ctr"/>
            <a:r>
              <a:rPr sz="800" b="1" i="0">
                <a:solidFill>
                  <a:srgbClr val="FFFFFF"/>
                </a:solidFill>
              </a:rPr>
              <a:t>IE11</a:t>
            </a:r>
          </a:p>
        </p:txBody>
      </p:sp>
      <p:sp>
        <p:nvSpPr>
          <p:cNvPr id="19" name="TextBox 18"/>
          <p:cNvSpPr txBox="1"/>
          <p:nvPr/>
        </p:nvSpPr>
        <p:spPr>
          <a:xfrm>
            <a:off x="1143000" y="3008376"/>
            <a:ext cx="7589520" cy="237744"/>
          </a:xfrm>
          <a:prstGeom prst="rect">
            <a:avLst/>
          </a:prstGeom>
          <a:noFill/>
        </p:spPr>
        <p:txBody>
          <a:bodyPr wrap="square">
            <a:spAutoFit/>
          </a:bodyPr>
          <a:lstStyle/>
          <a:p>
            <a:pPr algn="l"/>
            <a:r>
              <a:rPr sz="1150" b="0" i="0">
                <a:solidFill>
                  <a:srgbClr val="FFFFFF"/>
                </a:solidFill>
              </a:rPr>
              <a:t>Presentación estructurada, técnica y con nomenclatura profesional</a:t>
            </a:r>
          </a:p>
        </p:txBody>
      </p:sp>
      <p:sp>
        <p:nvSpPr>
          <p:cNvPr id="20" name="TextBox 19"/>
          <p:cNvSpPr txBox="1"/>
          <p:nvPr/>
        </p:nvSpPr>
        <p:spPr>
          <a:xfrm>
            <a:off x="548640" y="3401568"/>
            <a:ext cx="8229600" cy="274320"/>
          </a:xfrm>
          <a:prstGeom prst="rect">
            <a:avLst/>
          </a:prstGeom>
          <a:noFill/>
        </p:spPr>
        <p:txBody>
          <a:bodyPr wrap="square">
            <a:spAutoFit/>
          </a:bodyPr>
          <a:lstStyle/>
          <a:p>
            <a:pPr algn="l"/>
            <a:r>
              <a:rPr sz="1100" b="0" i="1">
                <a:solidFill>
                  <a:srgbClr val="7AB8D4"/>
                </a:solidFill>
              </a:rPr>
              <a:t>La infraestructura está corriendo en AWS EKS ahora mismo — accesible en:</a:t>
            </a:r>
          </a:p>
        </p:txBody>
      </p:sp>
      <p:sp>
        <p:nvSpPr>
          <p:cNvPr id="21" name="TextBox 20"/>
          <p:cNvSpPr txBox="1"/>
          <p:nvPr/>
        </p:nvSpPr>
        <p:spPr>
          <a:xfrm>
            <a:off x="548640" y="3749039"/>
            <a:ext cx="8229600" cy="320040"/>
          </a:xfrm>
          <a:prstGeom prst="rect">
            <a:avLst/>
          </a:prstGeom>
          <a:noFill/>
        </p:spPr>
        <p:txBody>
          <a:bodyPr wrap="square">
            <a:spAutoFit/>
          </a:bodyPr>
          <a:lstStyle/>
          <a:p>
            <a:pPr algn="l"/>
            <a:r>
              <a:rPr sz="950" b="1" i="0">
                <a:solidFill>
                  <a:srgbClr val="02C39A"/>
                </a:solidFill>
              </a:rPr>
              <a:t>http://abe9724078193497d8debc7f4b49c4e5-2014369318.us-east-1.elb.amazonaws.com</a:t>
            </a:r>
          </a:p>
        </p:txBody>
      </p:sp>
      <p:sp>
        <p:nvSpPr>
          <p:cNvPr id="22" name="TextBox 21"/>
          <p:cNvSpPr txBox="1"/>
          <p:nvPr/>
        </p:nvSpPr>
        <p:spPr>
          <a:xfrm>
            <a:off x="548640" y="4370832"/>
            <a:ext cx="8229600" cy="256032"/>
          </a:xfrm>
          <a:prstGeom prst="rect">
            <a:avLst/>
          </a:prstGeom>
          <a:noFill/>
        </p:spPr>
        <p:txBody>
          <a:bodyPr wrap="square">
            <a:spAutoFit/>
          </a:bodyPr>
          <a:lstStyle/>
          <a:p>
            <a:pPr algn="l"/>
            <a:r>
              <a:rPr sz="1000" b="0" i="0">
                <a:solidFill>
                  <a:srgbClr val="5A7A94"/>
                </a:solidFill>
              </a:rPr>
              <a:t>ISY1101  ·  EP3  ·  Luciano Dameri  ·  Junio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